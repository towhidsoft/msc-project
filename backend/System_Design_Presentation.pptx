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Shape 1"/>
          <p:cNvSpPr/>
          <p:nvPr/>
        </p:nvSpPr>
        <p:spPr>
          <a:xfrm>
            <a:off x="8686800" y="0"/>
            <a:ext cx="3502152" cy="6858000"/>
          </a:xfrm>
          <a:prstGeom prst="rect">
            <a:avLst/>
          </a:prstGeom>
          <a:solidFill>
            <a:srgbClr val="152237"/>
          </a:solidFill>
          <a:ln/>
        </p:spPr>
      </p:sp>
      <p:sp>
        <p:nvSpPr>
          <p:cNvPr id="4" name="Shape 2"/>
          <p:cNvSpPr/>
          <p:nvPr/>
        </p:nvSpPr>
        <p:spPr>
          <a:xfrm>
            <a:off x="10058400" y="0"/>
            <a:ext cx="2130552" cy="6858000"/>
          </a:xfrm>
          <a:prstGeom prst="rect">
            <a:avLst/>
          </a:prstGeom>
          <a:solidFill>
            <a:srgbClr val="1D2E52"/>
          </a:solidFill>
          <a:ln/>
        </p:spPr>
      </p:sp>
      <p:sp>
        <p:nvSpPr>
          <p:cNvPr id="5" name="Shape 3"/>
          <p:cNvSpPr/>
          <p:nvPr/>
        </p:nvSpPr>
        <p:spPr>
          <a:xfrm>
            <a:off x="10972800" y="0"/>
            <a:ext cx="1216152" cy="6858000"/>
          </a:xfrm>
          <a:prstGeom prst="rect">
            <a:avLst/>
          </a:prstGeom>
          <a:solidFill>
            <a:srgbClr val="253A66"/>
          </a:solidFill>
          <a:ln/>
        </p:spPr>
      </p:sp>
      <p:sp>
        <p:nvSpPr>
          <p:cNvPr id="6" name="Shape 4"/>
          <p:cNvSpPr/>
          <p:nvPr/>
        </p:nvSpPr>
        <p:spPr>
          <a:xfrm>
            <a:off x="0" y="3017520"/>
            <a:ext cx="8412480" cy="54864"/>
          </a:xfrm>
          <a:prstGeom prst="rect">
            <a:avLst/>
          </a:prstGeom>
          <a:solidFill>
            <a:srgbClr val="4CAFEC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005840"/>
            <a:ext cx="7772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E-Commerce Bookstore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548640" y="1828800"/>
            <a:ext cx="7772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4CAFE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Backend System Design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548640" y="320040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B0BE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Microservices Architecture  ·  Go  ·  Docker  ·  RabbitMQ  ·  SQLite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3931920"/>
            <a:ext cx="1325880" cy="274320"/>
          </a:xfrm>
          <a:prstGeom prst="rect">
            <a:avLst/>
          </a:prstGeom>
          <a:solidFill>
            <a:srgbClr val="4CAFEC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3931920"/>
            <a:ext cx="1325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Go / Gin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011680" y="3931920"/>
            <a:ext cx="1325880" cy="274320"/>
          </a:xfrm>
          <a:prstGeom prst="rect">
            <a:avLst/>
          </a:prstGeom>
          <a:solidFill>
            <a:srgbClr val="0091D5"/>
          </a:solidFill>
          <a:ln/>
        </p:spPr>
      </p:sp>
      <p:sp>
        <p:nvSpPr>
          <p:cNvPr id="13" name="Text 11"/>
          <p:cNvSpPr/>
          <p:nvPr/>
        </p:nvSpPr>
        <p:spPr>
          <a:xfrm>
            <a:off x="2011680" y="3931920"/>
            <a:ext cx="1325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Docker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474720" y="3931920"/>
            <a:ext cx="1325880" cy="274320"/>
          </a:xfrm>
          <a:prstGeom prst="rect">
            <a:avLst/>
          </a:prstGeom>
          <a:solidFill>
            <a:srgbClr val="FF6600"/>
          </a:solidFill>
          <a:ln/>
        </p:spPr>
      </p:sp>
      <p:sp>
        <p:nvSpPr>
          <p:cNvPr id="15" name="Text 13"/>
          <p:cNvSpPr/>
          <p:nvPr/>
        </p:nvSpPr>
        <p:spPr>
          <a:xfrm>
            <a:off x="3474720" y="3931920"/>
            <a:ext cx="1325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RabbitMQ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937760" y="3931920"/>
            <a:ext cx="1325880" cy="274320"/>
          </a:xfrm>
          <a:prstGeom prst="rect">
            <a:avLst/>
          </a:prstGeom>
          <a:solidFill>
            <a:srgbClr val="249E6B"/>
          </a:solidFill>
          <a:ln/>
        </p:spPr>
      </p:sp>
      <p:sp>
        <p:nvSpPr>
          <p:cNvPr id="17" name="Text 15"/>
          <p:cNvSpPr/>
          <p:nvPr/>
        </p:nvSpPr>
        <p:spPr>
          <a:xfrm>
            <a:off x="4937760" y="3931920"/>
            <a:ext cx="1325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SQLite / GORM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400800" y="3931920"/>
            <a:ext cx="1325880" cy="27432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0" y="3931920"/>
            <a:ext cx="1325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JWT Auth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48640" y="62179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B0BE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MSc Project — Backend Architecture Overview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Shape 1"/>
          <p:cNvSpPr/>
          <p:nvPr/>
        </p:nvSpPr>
        <p:spPr>
          <a:xfrm>
            <a:off x="365760" y="109728"/>
            <a:ext cx="1463040" cy="54864"/>
          </a:xfrm>
          <a:prstGeom prst="rect">
            <a:avLst/>
          </a:prstGeom>
          <a:solidFill>
            <a:srgbClr val="4CAFEC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73152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Table of Contents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365760" y="59436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4CAFE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we'll cover in this presentation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47472" y="1188720"/>
            <a:ext cx="2788920" cy="1280160"/>
          </a:xfrm>
          <a:prstGeom prst="rect">
            <a:avLst/>
          </a:prstGeom>
          <a:solidFill>
            <a:srgbClr val="1A2742"/>
          </a:solidFill>
          <a:ln/>
        </p:spPr>
      </p:sp>
      <p:sp>
        <p:nvSpPr>
          <p:cNvPr id="7" name="Shape 5"/>
          <p:cNvSpPr/>
          <p:nvPr/>
        </p:nvSpPr>
        <p:spPr>
          <a:xfrm>
            <a:off x="347472" y="1188720"/>
            <a:ext cx="54864" cy="1280160"/>
          </a:xfrm>
          <a:prstGeom prst="rect">
            <a:avLst/>
          </a:prstGeom>
          <a:solidFill>
            <a:srgbClr val="4CAFEC"/>
          </a:solidFill>
          <a:ln/>
        </p:spPr>
      </p:sp>
      <p:sp>
        <p:nvSpPr>
          <p:cNvPr id="8" name="Text 6"/>
          <p:cNvSpPr/>
          <p:nvPr/>
        </p:nvSpPr>
        <p:spPr>
          <a:xfrm>
            <a:off x="475488" y="1280160"/>
            <a:ext cx="25877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AFE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75488" y="1572768"/>
            <a:ext cx="25877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Architecture Overview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75488" y="1965960"/>
            <a:ext cx="258775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B0BE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High-level system design and patterns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255264" y="1188720"/>
            <a:ext cx="2788920" cy="1280160"/>
          </a:xfrm>
          <a:prstGeom prst="rect">
            <a:avLst/>
          </a:prstGeom>
          <a:solidFill>
            <a:srgbClr val="1A2742"/>
          </a:solidFill>
          <a:ln/>
        </p:spPr>
      </p:sp>
      <p:sp>
        <p:nvSpPr>
          <p:cNvPr id="12" name="Shape 10"/>
          <p:cNvSpPr/>
          <p:nvPr/>
        </p:nvSpPr>
        <p:spPr>
          <a:xfrm>
            <a:off x="3255264" y="1188720"/>
            <a:ext cx="54864" cy="1280160"/>
          </a:xfrm>
          <a:prstGeom prst="rect">
            <a:avLst/>
          </a:prstGeom>
          <a:solidFill>
            <a:srgbClr val="4CAFEC"/>
          </a:solidFill>
          <a:ln/>
        </p:spPr>
      </p:sp>
      <p:sp>
        <p:nvSpPr>
          <p:cNvPr id="13" name="Text 11"/>
          <p:cNvSpPr/>
          <p:nvPr/>
        </p:nvSpPr>
        <p:spPr>
          <a:xfrm>
            <a:off x="3383280" y="1280160"/>
            <a:ext cx="25877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AFE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383280" y="1572768"/>
            <a:ext cx="25877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API Gateway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383280" y="1965960"/>
            <a:ext cx="258775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B0BE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Entry point, JWT auth, routing &amp; CORS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163056" y="1188720"/>
            <a:ext cx="2788920" cy="1280160"/>
          </a:xfrm>
          <a:prstGeom prst="rect">
            <a:avLst/>
          </a:prstGeom>
          <a:solidFill>
            <a:srgbClr val="1A2742"/>
          </a:solidFill>
          <a:ln/>
        </p:spPr>
      </p:sp>
      <p:sp>
        <p:nvSpPr>
          <p:cNvPr id="17" name="Shape 15"/>
          <p:cNvSpPr/>
          <p:nvPr/>
        </p:nvSpPr>
        <p:spPr>
          <a:xfrm>
            <a:off x="6163056" y="1188720"/>
            <a:ext cx="54864" cy="1280160"/>
          </a:xfrm>
          <a:prstGeom prst="rect">
            <a:avLst/>
          </a:prstGeom>
          <a:solidFill>
            <a:srgbClr val="4CAFEC"/>
          </a:solidFill>
          <a:ln/>
        </p:spPr>
      </p:sp>
      <p:sp>
        <p:nvSpPr>
          <p:cNvPr id="18" name="Text 16"/>
          <p:cNvSpPr/>
          <p:nvPr/>
        </p:nvSpPr>
        <p:spPr>
          <a:xfrm>
            <a:off x="6291072" y="1280160"/>
            <a:ext cx="25877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AFE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03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291072" y="1572768"/>
            <a:ext cx="25877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Microservices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291072" y="1965960"/>
            <a:ext cx="258775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B0BE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User, Catalog, Inventory, Order, Payment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9070848" y="1188720"/>
            <a:ext cx="2788920" cy="1280160"/>
          </a:xfrm>
          <a:prstGeom prst="rect">
            <a:avLst/>
          </a:prstGeom>
          <a:solidFill>
            <a:srgbClr val="1A2742"/>
          </a:solidFill>
          <a:ln/>
        </p:spPr>
      </p:sp>
      <p:sp>
        <p:nvSpPr>
          <p:cNvPr id="22" name="Shape 20"/>
          <p:cNvSpPr/>
          <p:nvPr/>
        </p:nvSpPr>
        <p:spPr>
          <a:xfrm>
            <a:off x="9070848" y="1188720"/>
            <a:ext cx="54864" cy="1280160"/>
          </a:xfrm>
          <a:prstGeom prst="rect">
            <a:avLst/>
          </a:prstGeom>
          <a:solidFill>
            <a:srgbClr val="4CAFEC"/>
          </a:solidFill>
          <a:ln/>
        </p:spPr>
      </p:sp>
      <p:sp>
        <p:nvSpPr>
          <p:cNvPr id="23" name="Text 21"/>
          <p:cNvSpPr/>
          <p:nvPr/>
        </p:nvSpPr>
        <p:spPr>
          <a:xfrm>
            <a:off x="9198864" y="1280160"/>
            <a:ext cx="25877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AFE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04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9198864" y="1572768"/>
            <a:ext cx="25877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Async Messaging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9198864" y="1965960"/>
            <a:ext cx="258775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B0BE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RabbitMQ event-driven communication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347472" y="2578608"/>
            <a:ext cx="2788920" cy="1280160"/>
          </a:xfrm>
          <a:prstGeom prst="rect">
            <a:avLst/>
          </a:prstGeom>
          <a:solidFill>
            <a:srgbClr val="1A2742"/>
          </a:solidFill>
          <a:ln/>
        </p:spPr>
      </p:sp>
      <p:sp>
        <p:nvSpPr>
          <p:cNvPr id="27" name="Shape 25"/>
          <p:cNvSpPr/>
          <p:nvPr/>
        </p:nvSpPr>
        <p:spPr>
          <a:xfrm>
            <a:off x="347472" y="2578608"/>
            <a:ext cx="54864" cy="1280160"/>
          </a:xfrm>
          <a:prstGeom prst="rect">
            <a:avLst/>
          </a:prstGeom>
          <a:solidFill>
            <a:srgbClr val="4CAFEC"/>
          </a:solidFill>
          <a:ln/>
        </p:spPr>
      </p:sp>
      <p:sp>
        <p:nvSpPr>
          <p:cNvPr id="28" name="Text 26"/>
          <p:cNvSpPr/>
          <p:nvPr/>
        </p:nvSpPr>
        <p:spPr>
          <a:xfrm>
            <a:off x="475488" y="2670048"/>
            <a:ext cx="25877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AFE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05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75488" y="2962656"/>
            <a:ext cx="25877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 Layer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75488" y="3355848"/>
            <a:ext cx="258775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B0BE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SQLite + GORM per-service databases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3255264" y="2578608"/>
            <a:ext cx="2788920" cy="1280160"/>
          </a:xfrm>
          <a:prstGeom prst="rect">
            <a:avLst/>
          </a:prstGeom>
          <a:solidFill>
            <a:srgbClr val="1A2742"/>
          </a:solidFill>
          <a:ln/>
        </p:spPr>
      </p:sp>
      <p:sp>
        <p:nvSpPr>
          <p:cNvPr id="32" name="Shape 30"/>
          <p:cNvSpPr/>
          <p:nvPr/>
        </p:nvSpPr>
        <p:spPr>
          <a:xfrm>
            <a:off x="3255264" y="2578608"/>
            <a:ext cx="54864" cy="1280160"/>
          </a:xfrm>
          <a:prstGeom prst="rect">
            <a:avLst/>
          </a:prstGeom>
          <a:solidFill>
            <a:srgbClr val="4CAFEC"/>
          </a:solidFill>
          <a:ln/>
        </p:spPr>
      </p:sp>
      <p:sp>
        <p:nvSpPr>
          <p:cNvPr id="33" name="Text 31"/>
          <p:cNvSpPr/>
          <p:nvPr/>
        </p:nvSpPr>
        <p:spPr>
          <a:xfrm>
            <a:off x="3383280" y="2670048"/>
            <a:ext cx="25877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AFE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06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3383280" y="2962656"/>
            <a:ext cx="25877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Containerisation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3383280" y="3355848"/>
            <a:ext cx="258775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B0BE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Docker Compose orchestration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6163056" y="2578608"/>
            <a:ext cx="2788920" cy="1280160"/>
          </a:xfrm>
          <a:prstGeom prst="rect">
            <a:avLst/>
          </a:prstGeom>
          <a:solidFill>
            <a:srgbClr val="1A2742"/>
          </a:solidFill>
          <a:ln/>
        </p:spPr>
      </p:sp>
      <p:sp>
        <p:nvSpPr>
          <p:cNvPr id="37" name="Shape 35"/>
          <p:cNvSpPr/>
          <p:nvPr/>
        </p:nvSpPr>
        <p:spPr>
          <a:xfrm>
            <a:off x="6163056" y="2578608"/>
            <a:ext cx="54864" cy="1280160"/>
          </a:xfrm>
          <a:prstGeom prst="rect">
            <a:avLst/>
          </a:prstGeom>
          <a:solidFill>
            <a:srgbClr val="4CAFEC"/>
          </a:solidFill>
          <a:ln/>
        </p:spPr>
      </p:sp>
      <p:sp>
        <p:nvSpPr>
          <p:cNvPr id="38" name="Text 36"/>
          <p:cNvSpPr/>
          <p:nvPr/>
        </p:nvSpPr>
        <p:spPr>
          <a:xfrm>
            <a:off x="6291072" y="2670048"/>
            <a:ext cx="25877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AFE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07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6291072" y="2962656"/>
            <a:ext cx="25877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API Reference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6291072" y="3355848"/>
            <a:ext cx="258775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B0BE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Full list of public &amp; protected endpoints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9070848" y="2578608"/>
            <a:ext cx="2788920" cy="1280160"/>
          </a:xfrm>
          <a:prstGeom prst="rect">
            <a:avLst/>
          </a:prstGeom>
          <a:solidFill>
            <a:srgbClr val="1A2742"/>
          </a:solidFill>
          <a:ln/>
        </p:spPr>
      </p:sp>
      <p:sp>
        <p:nvSpPr>
          <p:cNvPr id="42" name="Shape 40"/>
          <p:cNvSpPr/>
          <p:nvPr/>
        </p:nvSpPr>
        <p:spPr>
          <a:xfrm>
            <a:off x="9070848" y="2578608"/>
            <a:ext cx="54864" cy="1280160"/>
          </a:xfrm>
          <a:prstGeom prst="rect">
            <a:avLst/>
          </a:prstGeom>
          <a:solidFill>
            <a:srgbClr val="4CAFEC"/>
          </a:solidFill>
          <a:ln/>
        </p:spPr>
      </p:sp>
      <p:sp>
        <p:nvSpPr>
          <p:cNvPr id="43" name="Text 41"/>
          <p:cNvSpPr/>
          <p:nvPr/>
        </p:nvSpPr>
        <p:spPr>
          <a:xfrm>
            <a:off x="9198864" y="2670048"/>
            <a:ext cx="25877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AFE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08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9198864" y="2962656"/>
            <a:ext cx="25877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Deployment Strategy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9198864" y="3355848"/>
            <a:ext cx="258775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B0BE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VPS deployment with persistent volumes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Shape 1"/>
          <p:cNvSpPr/>
          <p:nvPr/>
        </p:nvSpPr>
        <p:spPr>
          <a:xfrm>
            <a:off x="365760" y="109728"/>
            <a:ext cx="1463040" cy="54864"/>
          </a:xfrm>
          <a:prstGeom prst="rect">
            <a:avLst/>
          </a:prstGeom>
          <a:solidFill>
            <a:srgbClr val="4CAFEC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73152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Architecture Overview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365760" y="59436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4CAFE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Microservices pattern with an API Gateway as the single entry point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2377440"/>
            <a:ext cx="1463040" cy="822960"/>
          </a:xfrm>
          <a:prstGeom prst="rect">
            <a:avLst/>
          </a:prstGeom>
          <a:solidFill>
            <a:srgbClr val="1A2742"/>
          </a:solidFill>
          <a:ln/>
        </p:spPr>
      </p:sp>
      <p:sp>
        <p:nvSpPr>
          <p:cNvPr id="7" name="Text 5"/>
          <p:cNvSpPr/>
          <p:nvPr/>
        </p:nvSpPr>
        <p:spPr>
          <a:xfrm>
            <a:off x="274320" y="2377440"/>
            <a:ext cx="1463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Client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(Browser/App)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1737360" y="2761488"/>
            <a:ext cx="594360" cy="36576"/>
          </a:xfrm>
          <a:prstGeom prst="rect">
            <a:avLst/>
          </a:prstGeom>
          <a:solidFill>
            <a:srgbClr val="4CAFEC"/>
          </a:solidFill>
          <a:ln/>
        </p:spPr>
      </p:sp>
      <p:sp>
        <p:nvSpPr>
          <p:cNvPr id="9" name="Text 7"/>
          <p:cNvSpPr/>
          <p:nvPr/>
        </p:nvSpPr>
        <p:spPr>
          <a:xfrm>
            <a:off x="1719072" y="2578608"/>
            <a:ext cx="640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4CAFE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HTTP :8000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2331720" y="1920240"/>
            <a:ext cx="2011680" cy="1920240"/>
          </a:xfrm>
          <a:prstGeom prst="rect">
            <a:avLst/>
          </a:prstGeom>
          <a:solidFill>
            <a:srgbClr val="0D478A"/>
          </a:solidFill>
          <a:ln/>
        </p:spPr>
      </p:sp>
      <p:sp>
        <p:nvSpPr>
          <p:cNvPr id="11" name="Shape 9"/>
          <p:cNvSpPr/>
          <p:nvPr/>
        </p:nvSpPr>
        <p:spPr>
          <a:xfrm>
            <a:off x="2331720" y="1920240"/>
            <a:ext cx="2011680" cy="64008"/>
          </a:xfrm>
          <a:prstGeom prst="rect">
            <a:avLst/>
          </a:prstGeom>
          <a:solidFill>
            <a:srgbClr val="4CAFEC"/>
          </a:solidFill>
          <a:ln/>
        </p:spPr>
      </p:sp>
      <p:sp>
        <p:nvSpPr>
          <p:cNvPr id="12" name="Text 10"/>
          <p:cNvSpPr/>
          <p:nvPr/>
        </p:nvSpPr>
        <p:spPr>
          <a:xfrm>
            <a:off x="2331720" y="192024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API Gateway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:8000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450592" y="2487168"/>
            <a:ext cx="182880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B0BE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JWT Validation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B0BE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Reverse Proxy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B0BE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CORS Middleware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B0BE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Route Dispatch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343400" y="1280160"/>
            <a:ext cx="1554480" cy="36576"/>
          </a:xfrm>
          <a:prstGeom prst="rect">
            <a:avLst/>
          </a:prstGeom>
          <a:solidFill>
            <a:srgbClr val="4CAFEC"/>
          </a:solidFill>
          <a:ln/>
        </p:spPr>
      </p:sp>
      <p:sp>
        <p:nvSpPr>
          <p:cNvPr id="15" name="Shape 13"/>
          <p:cNvSpPr/>
          <p:nvPr/>
        </p:nvSpPr>
        <p:spPr>
          <a:xfrm>
            <a:off x="5897880" y="1005840"/>
            <a:ext cx="2286000" cy="731520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16" name="Text 14"/>
          <p:cNvSpPr/>
          <p:nvPr/>
        </p:nvSpPr>
        <p:spPr>
          <a:xfrm>
            <a:off x="5897880" y="100584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User Service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:8001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8412480" y="1097280"/>
            <a:ext cx="1463040" cy="548640"/>
          </a:xfrm>
          <a:prstGeom prst="rect">
            <a:avLst/>
          </a:prstGeom>
          <a:solidFill>
            <a:srgbClr val="143D2A"/>
          </a:solidFill>
          <a:ln/>
        </p:spPr>
      </p:sp>
      <p:sp>
        <p:nvSpPr>
          <p:cNvPr id="18" name="Text 16"/>
          <p:cNvSpPr/>
          <p:nvPr/>
        </p:nvSpPr>
        <p:spPr>
          <a:xfrm>
            <a:off x="8412480" y="1097280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CD9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SQLite DB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8183880" y="1344168"/>
            <a:ext cx="246888" cy="27432"/>
          </a:xfrm>
          <a:prstGeom prst="rect">
            <a:avLst/>
          </a:prstGeom>
          <a:solidFill>
            <a:srgbClr val="249E6B"/>
          </a:solidFill>
          <a:ln/>
        </p:spPr>
      </p:sp>
      <p:sp>
        <p:nvSpPr>
          <p:cNvPr id="20" name="Shape 18"/>
          <p:cNvSpPr/>
          <p:nvPr/>
        </p:nvSpPr>
        <p:spPr>
          <a:xfrm>
            <a:off x="4343400" y="2359152"/>
            <a:ext cx="1554480" cy="36576"/>
          </a:xfrm>
          <a:prstGeom prst="rect">
            <a:avLst/>
          </a:prstGeom>
          <a:solidFill>
            <a:srgbClr val="4CAFEC"/>
          </a:solidFill>
          <a:ln/>
        </p:spPr>
      </p:sp>
      <p:sp>
        <p:nvSpPr>
          <p:cNvPr id="21" name="Shape 19"/>
          <p:cNvSpPr/>
          <p:nvPr/>
        </p:nvSpPr>
        <p:spPr>
          <a:xfrm>
            <a:off x="5897880" y="2084832"/>
            <a:ext cx="2286000" cy="731520"/>
          </a:xfrm>
          <a:prstGeom prst="rect">
            <a:avLst/>
          </a:prstGeom>
          <a:solidFill>
            <a:srgbClr val="4A148C"/>
          </a:solidFill>
          <a:ln/>
        </p:spPr>
      </p:sp>
      <p:sp>
        <p:nvSpPr>
          <p:cNvPr id="22" name="Text 20"/>
          <p:cNvSpPr/>
          <p:nvPr/>
        </p:nvSpPr>
        <p:spPr>
          <a:xfrm>
            <a:off x="5897880" y="2084832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Catalog Service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:8002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8412480" y="2176272"/>
            <a:ext cx="1463040" cy="548640"/>
          </a:xfrm>
          <a:prstGeom prst="rect">
            <a:avLst/>
          </a:prstGeom>
          <a:solidFill>
            <a:srgbClr val="143D2A"/>
          </a:solidFill>
          <a:ln/>
        </p:spPr>
      </p:sp>
      <p:sp>
        <p:nvSpPr>
          <p:cNvPr id="24" name="Text 22"/>
          <p:cNvSpPr/>
          <p:nvPr/>
        </p:nvSpPr>
        <p:spPr>
          <a:xfrm>
            <a:off x="8412480" y="2176272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CD9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SQLite DB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8183880" y="2423160"/>
            <a:ext cx="246888" cy="27432"/>
          </a:xfrm>
          <a:prstGeom prst="rect">
            <a:avLst/>
          </a:prstGeom>
          <a:solidFill>
            <a:srgbClr val="249E6B"/>
          </a:solidFill>
          <a:ln/>
        </p:spPr>
      </p:sp>
      <p:sp>
        <p:nvSpPr>
          <p:cNvPr id="26" name="Shape 24"/>
          <p:cNvSpPr/>
          <p:nvPr/>
        </p:nvSpPr>
        <p:spPr>
          <a:xfrm>
            <a:off x="4343400" y="3438144"/>
            <a:ext cx="1554480" cy="36576"/>
          </a:xfrm>
          <a:prstGeom prst="rect">
            <a:avLst/>
          </a:prstGeom>
          <a:solidFill>
            <a:srgbClr val="4CAFEC"/>
          </a:solidFill>
          <a:ln/>
        </p:spPr>
      </p:sp>
      <p:sp>
        <p:nvSpPr>
          <p:cNvPr id="27" name="Shape 25"/>
          <p:cNvSpPr/>
          <p:nvPr/>
        </p:nvSpPr>
        <p:spPr>
          <a:xfrm>
            <a:off x="5897880" y="3163824"/>
            <a:ext cx="2286000" cy="731520"/>
          </a:xfrm>
          <a:prstGeom prst="rect">
            <a:avLst/>
          </a:prstGeom>
          <a:solidFill>
            <a:srgbClr val="0D478A"/>
          </a:solidFill>
          <a:ln/>
        </p:spPr>
      </p:sp>
      <p:sp>
        <p:nvSpPr>
          <p:cNvPr id="28" name="Text 26"/>
          <p:cNvSpPr/>
          <p:nvPr/>
        </p:nvSpPr>
        <p:spPr>
          <a:xfrm>
            <a:off x="5897880" y="3163824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Inventory Service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:8003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8412480" y="3255264"/>
            <a:ext cx="1463040" cy="548640"/>
          </a:xfrm>
          <a:prstGeom prst="rect">
            <a:avLst/>
          </a:prstGeom>
          <a:solidFill>
            <a:srgbClr val="143D2A"/>
          </a:solidFill>
          <a:ln/>
        </p:spPr>
      </p:sp>
      <p:sp>
        <p:nvSpPr>
          <p:cNvPr id="30" name="Text 28"/>
          <p:cNvSpPr/>
          <p:nvPr/>
        </p:nvSpPr>
        <p:spPr>
          <a:xfrm>
            <a:off x="8412480" y="3255264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CD9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SQLite DB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8183880" y="3502152"/>
            <a:ext cx="246888" cy="27432"/>
          </a:xfrm>
          <a:prstGeom prst="rect">
            <a:avLst/>
          </a:prstGeom>
          <a:solidFill>
            <a:srgbClr val="249E6B"/>
          </a:solidFill>
          <a:ln/>
        </p:spPr>
      </p:sp>
      <p:sp>
        <p:nvSpPr>
          <p:cNvPr id="32" name="Shape 30"/>
          <p:cNvSpPr/>
          <p:nvPr/>
        </p:nvSpPr>
        <p:spPr>
          <a:xfrm>
            <a:off x="4343400" y="4517136"/>
            <a:ext cx="1554480" cy="36576"/>
          </a:xfrm>
          <a:prstGeom prst="rect">
            <a:avLst/>
          </a:prstGeom>
          <a:solidFill>
            <a:srgbClr val="4CAFEC"/>
          </a:solidFill>
          <a:ln/>
        </p:spPr>
      </p:sp>
      <p:sp>
        <p:nvSpPr>
          <p:cNvPr id="33" name="Shape 31"/>
          <p:cNvSpPr/>
          <p:nvPr/>
        </p:nvSpPr>
        <p:spPr>
          <a:xfrm>
            <a:off x="5897880" y="4242816"/>
            <a:ext cx="2286000" cy="731520"/>
          </a:xfrm>
          <a:prstGeom prst="rect">
            <a:avLst/>
          </a:prstGeom>
          <a:solidFill>
            <a:srgbClr val="7C3A00"/>
          </a:solidFill>
          <a:ln/>
        </p:spPr>
      </p:sp>
      <p:sp>
        <p:nvSpPr>
          <p:cNvPr id="34" name="Text 32"/>
          <p:cNvSpPr/>
          <p:nvPr/>
        </p:nvSpPr>
        <p:spPr>
          <a:xfrm>
            <a:off x="5897880" y="4242816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Order Service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:8004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8412480" y="4334256"/>
            <a:ext cx="1463040" cy="548640"/>
          </a:xfrm>
          <a:prstGeom prst="rect">
            <a:avLst/>
          </a:prstGeom>
          <a:solidFill>
            <a:srgbClr val="143D2A"/>
          </a:solidFill>
          <a:ln/>
        </p:spPr>
      </p:sp>
      <p:sp>
        <p:nvSpPr>
          <p:cNvPr id="36" name="Text 34"/>
          <p:cNvSpPr/>
          <p:nvPr/>
        </p:nvSpPr>
        <p:spPr>
          <a:xfrm>
            <a:off x="8412480" y="4334256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CD9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SQLite DB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8183880" y="4581144"/>
            <a:ext cx="246888" cy="27432"/>
          </a:xfrm>
          <a:prstGeom prst="rect">
            <a:avLst/>
          </a:prstGeom>
          <a:solidFill>
            <a:srgbClr val="249E6B"/>
          </a:solidFill>
          <a:ln/>
        </p:spPr>
      </p:sp>
      <p:sp>
        <p:nvSpPr>
          <p:cNvPr id="38" name="Shape 36"/>
          <p:cNvSpPr/>
          <p:nvPr/>
        </p:nvSpPr>
        <p:spPr>
          <a:xfrm>
            <a:off x="4343400" y="5596128"/>
            <a:ext cx="1554480" cy="36576"/>
          </a:xfrm>
          <a:prstGeom prst="rect">
            <a:avLst/>
          </a:prstGeom>
          <a:solidFill>
            <a:srgbClr val="4CAFEC"/>
          </a:solidFill>
          <a:ln/>
        </p:spPr>
      </p:sp>
      <p:sp>
        <p:nvSpPr>
          <p:cNvPr id="39" name="Shape 37"/>
          <p:cNvSpPr/>
          <p:nvPr/>
        </p:nvSpPr>
        <p:spPr>
          <a:xfrm>
            <a:off x="5897880" y="5321808"/>
            <a:ext cx="2286000" cy="731520"/>
          </a:xfrm>
          <a:prstGeom prst="rect">
            <a:avLst/>
          </a:prstGeom>
          <a:solidFill>
            <a:srgbClr val="620000"/>
          </a:solidFill>
          <a:ln/>
        </p:spPr>
      </p:sp>
      <p:sp>
        <p:nvSpPr>
          <p:cNvPr id="40" name="Text 38"/>
          <p:cNvSpPr/>
          <p:nvPr/>
        </p:nvSpPr>
        <p:spPr>
          <a:xfrm>
            <a:off x="5897880" y="5321808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Payment Service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:8005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8412480" y="5413248"/>
            <a:ext cx="1463040" cy="548640"/>
          </a:xfrm>
          <a:prstGeom prst="rect">
            <a:avLst/>
          </a:prstGeom>
          <a:solidFill>
            <a:srgbClr val="143D2A"/>
          </a:solidFill>
          <a:ln/>
        </p:spPr>
      </p:sp>
      <p:sp>
        <p:nvSpPr>
          <p:cNvPr id="42" name="Text 40"/>
          <p:cNvSpPr/>
          <p:nvPr/>
        </p:nvSpPr>
        <p:spPr>
          <a:xfrm>
            <a:off x="8412480" y="5413248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CD9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SQLite DB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8183880" y="5660136"/>
            <a:ext cx="246888" cy="27432"/>
          </a:xfrm>
          <a:prstGeom prst="rect">
            <a:avLst/>
          </a:prstGeom>
          <a:solidFill>
            <a:srgbClr val="249E6B"/>
          </a:solidFill>
          <a:ln/>
        </p:spPr>
      </p:sp>
      <p:sp>
        <p:nvSpPr>
          <p:cNvPr id="44" name="Shape 42"/>
          <p:cNvSpPr/>
          <p:nvPr/>
        </p:nvSpPr>
        <p:spPr>
          <a:xfrm>
            <a:off x="10058400" y="2514600"/>
            <a:ext cx="1920240" cy="822960"/>
          </a:xfrm>
          <a:prstGeom prst="rect">
            <a:avLst/>
          </a:prstGeom>
          <a:solidFill>
            <a:srgbClr val="4A1A00"/>
          </a:solidFill>
          <a:ln/>
        </p:spPr>
      </p:sp>
      <p:sp>
        <p:nvSpPr>
          <p:cNvPr id="45" name="Shape 43"/>
          <p:cNvSpPr/>
          <p:nvPr/>
        </p:nvSpPr>
        <p:spPr>
          <a:xfrm>
            <a:off x="10058400" y="2514600"/>
            <a:ext cx="1920240" cy="64008"/>
          </a:xfrm>
          <a:prstGeom prst="rect">
            <a:avLst/>
          </a:prstGeom>
          <a:solidFill>
            <a:srgbClr val="FF6600"/>
          </a:solidFill>
          <a:ln/>
        </p:spPr>
      </p:sp>
      <p:sp>
        <p:nvSpPr>
          <p:cNvPr id="46" name="Text 44"/>
          <p:cNvSpPr/>
          <p:nvPr/>
        </p:nvSpPr>
        <p:spPr>
          <a:xfrm>
            <a:off x="10058400" y="2514600"/>
            <a:ext cx="1920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66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RabbitMQ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66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AMQP :5672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9217152" y="2898648"/>
            <a:ext cx="841248" cy="36576"/>
          </a:xfrm>
          <a:prstGeom prst="rect">
            <a:avLst/>
          </a:prstGeom>
          <a:solidFill>
            <a:srgbClr val="FF6600"/>
          </a:solidFill>
          <a:ln/>
        </p:spPr>
      </p:sp>
      <p:sp>
        <p:nvSpPr>
          <p:cNvPr id="48" name="Text 46"/>
          <p:cNvSpPr/>
          <p:nvPr/>
        </p:nvSpPr>
        <p:spPr>
          <a:xfrm>
            <a:off x="9189720" y="2715768"/>
            <a:ext cx="868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FF66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Events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Shape 1"/>
          <p:cNvSpPr/>
          <p:nvPr/>
        </p:nvSpPr>
        <p:spPr>
          <a:xfrm>
            <a:off x="365760" y="109728"/>
            <a:ext cx="1463040" cy="54864"/>
          </a:xfrm>
          <a:prstGeom prst="rect">
            <a:avLst/>
          </a:prstGeom>
          <a:solidFill>
            <a:srgbClr val="4CAFEC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73152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API Gateway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365760" y="59436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4CAFE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Single entry point on port :8000 — built with Go &amp; Gin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01752" y="1188720"/>
            <a:ext cx="2788920" cy="4480560"/>
          </a:xfrm>
          <a:prstGeom prst="rect">
            <a:avLst/>
          </a:prstGeom>
          <a:solidFill>
            <a:srgbClr val="1A2742"/>
          </a:solidFill>
          <a:ln/>
        </p:spPr>
      </p:sp>
      <p:sp>
        <p:nvSpPr>
          <p:cNvPr id="7" name="Shape 5"/>
          <p:cNvSpPr/>
          <p:nvPr/>
        </p:nvSpPr>
        <p:spPr>
          <a:xfrm>
            <a:off x="301752" y="1188720"/>
            <a:ext cx="54864" cy="4480560"/>
          </a:xfrm>
          <a:prstGeom prst="rect">
            <a:avLst/>
          </a:prstGeom>
          <a:solidFill>
            <a:srgbClr val="4CAFEC"/>
          </a:solidFill>
          <a:ln/>
        </p:spPr>
      </p:sp>
      <p:sp>
        <p:nvSpPr>
          <p:cNvPr id="8" name="Text 6"/>
          <p:cNvSpPr/>
          <p:nvPr/>
        </p:nvSpPr>
        <p:spPr>
          <a:xfrm>
            <a:off x="429768" y="128016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AFE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JWT Authentication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29768" y="1627632"/>
            <a:ext cx="2532888" cy="22860"/>
          </a:xfrm>
          <a:prstGeom prst="rect">
            <a:avLst/>
          </a:prstGeom>
          <a:solidFill>
            <a:srgbClr val="4CAFEC"/>
          </a:solidFill>
          <a:ln/>
        </p:spPr>
      </p:sp>
      <p:sp>
        <p:nvSpPr>
          <p:cNvPr id="10" name="Text 8"/>
          <p:cNvSpPr/>
          <p:nvPr/>
        </p:nvSpPr>
        <p:spPr>
          <a:xfrm>
            <a:off x="429768" y="1664208"/>
            <a:ext cx="2532888" cy="3886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B0BE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Validates Bearer token on all protected routes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B0BE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Parses email &amp; role claims from JWT payload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B0BE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Forwards X-User-Email &amp; X-User-Role headers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B0BE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Returns 401 on missing or expired tokens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246120" y="1188720"/>
            <a:ext cx="2788920" cy="4480560"/>
          </a:xfrm>
          <a:prstGeom prst="rect">
            <a:avLst/>
          </a:prstGeom>
          <a:solidFill>
            <a:srgbClr val="1A2742"/>
          </a:solidFill>
          <a:ln/>
        </p:spPr>
      </p:sp>
      <p:sp>
        <p:nvSpPr>
          <p:cNvPr id="12" name="Shape 10"/>
          <p:cNvSpPr/>
          <p:nvPr/>
        </p:nvSpPr>
        <p:spPr>
          <a:xfrm>
            <a:off x="3246120" y="1188720"/>
            <a:ext cx="54864" cy="4480560"/>
          </a:xfrm>
          <a:prstGeom prst="rect">
            <a:avLst/>
          </a:prstGeom>
          <a:solidFill>
            <a:srgbClr val="249E6B"/>
          </a:solidFill>
          <a:ln/>
        </p:spPr>
      </p:sp>
      <p:sp>
        <p:nvSpPr>
          <p:cNvPr id="13" name="Text 11"/>
          <p:cNvSpPr/>
          <p:nvPr/>
        </p:nvSpPr>
        <p:spPr>
          <a:xfrm>
            <a:off x="3374136" y="128016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49E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Reverse Proxy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374136" y="1627632"/>
            <a:ext cx="2532888" cy="22860"/>
          </a:xfrm>
          <a:prstGeom prst="rect">
            <a:avLst/>
          </a:prstGeom>
          <a:solidFill>
            <a:srgbClr val="249E6B"/>
          </a:solidFill>
          <a:ln/>
        </p:spPr>
      </p:sp>
      <p:sp>
        <p:nvSpPr>
          <p:cNvPr id="15" name="Text 13"/>
          <p:cNvSpPr/>
          <p:nvPr/>
        </p:nvSpPr>
        <p:spPr>
          <a:xfrm>
            <a:off x="3374136" y="1664208"/>
            <a:ext cx="2532888" cy="3886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B0BE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Uses net/http/httputil.ReverseProxy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B0BE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Routes requests by URL path to upstream service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B0BE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Transparent pass-through of headers &amp; body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B0BE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Configurable via environment variables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190488" y="1188720"/>
            <a:ext cx="2788920" cy="4480560"/>
          </a:xfrm>
          <a:prstGeom prst="rect">
            <a:avLst/>
          </a:prstGeom>
          <a:solidFill>
            <a:srgbClr val="1A2742"/>
          </a:solidFill>
          <a:ln/>
        </p:spPr>
      </p:sp>
      <p:sp>
        <p:nvSpPr>
          <p:cNvPr id="17" name="Shape 15"/>
          <p:cNvSpPr/>
          <p:nvPr/>
        </p:nvSpPr>
        <p:spPr>
          <a:xfrm>
            <a:off x="6190488" y="1188720"/>
            <a:ext cx="54864" cy="448056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8" name="Text 16"/>
          <p:cNvSpPr/>
          <p:nvPr/>
        </p:nvSpPr>
        <p:spPr>
          <a:xfrm>
            <a:off x="6318504" y="128016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7C3A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CORS Middleware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318504" y="1627632"/>
            <a:ext cx="2532888" cy="2286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0" name="Text 18"/>
          <p:cNvSpPr/>
          <p:nvPr/>
        </p:nvSpPr>
        <p:spPr>
          <a:xfrm>
            <a:off x="6318504" y="1664208"/>
            <a:ext cx="2532888" cy="3886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B0BE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Access-Control-Allow-Origin: *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B0BE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Allows: GET, POST, PUT, DELETE, OPTIONS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B0BE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Handles preflight OPTIONS requests (204)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B0BE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Accepts Authorization &amp; custom headers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9134856" y="1188720"/>
            <a:ext cx="2788920" cy="4480560"/>
          </a:xfrm>
          <a:prstGeom prst="rect">
            <a:avLst/>
          </a:prstGeom>
          <a:solidFill>
            <a:srgbClr val="1A2742"/>
          </a:solidFill>
          <a:ln/>
        </p:spPr>
      </p:sp>
      <p:sp>
        <p:nvSpPr>
          <p:cNvPr id="22" name="Shape 20"/>
          <p:cNvSpPr/>
          <p:nvPr/>
        </p:nvSpPr>
        <p:spPr>
          <a:xfrm>
            <a:off x="9134856" y="1188720"/>
            <a:ext cx="54864" cy="4480560"/>
          </a:xfrm>
          <a:prstGeom prst="rect">
            <a:avLst/>
          </a:prstGeom>
          <a:solidFill>
            <a:srgbClr val="FF8000"/>
          </a:solidFill>
          <a:ln/>
        </p:spPr>
      </p:sp>
      <p:sp>
        <p:nvSpPr>
          <p:cNvPr id="23" name="Text 21"/>
          <p:cNvSpPr/>
          <p:nvPr/>
        </p:nvSpPr>
        <p:spPr>
          <a:xfrm>
            <a:off x="9262872" y="128016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8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Route Groups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9262872" y="1627632"/>
            <a:ext cx="2532888" cy="22860"/>
          </a:xfrm>
          <a:prstGeom prst="rect">
            <a:avLst/>
          </a:prstGeom>
          <a:solidFill>
            <a:srgbClr val="FF8000"/>
          </a:solidFill>
          <a:ln/>
        </p:spPr>
      </p:sp>
      <p:sp>
        <p:nvSpPr>
          <p:cNvPr id="25" name="Text 23"/>
          <p:cNvSpPr/>
          <p:nvPr/>
        </p:nvSpPr>
        <p:spPr>
          <a:xfrm>
            <a:off x="9262872" y="1664208"/>
            <a:ext cx="2532888" cy="3886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B0BE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Public: /register, /login, /books, /books/:id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B0BE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Protected (JWT required):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B0BE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– /me  (user profile)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B0BE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– /orders, /inventory, /payments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301752" y="5897880"/>
            <a:ext cx="11430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B0BE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Technology: Go 1.24  •  Gin Web Framework  •  golang-jwt/jwt v5  •  Read/Write Timeout: 15s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Shape 1"/>
          <p:cNvSpPr/>
          <p:nvPr/>
        </p:nvSpPr>
        <p:spPr>
          <a:xfrm>
            <a:off x="365760" y="109728"/>
            <a:ext cx="1463040" cy="54864"/>
          </a:xfrm>
          <a:prstGeom prst="rect">
            <a:avLst/>
          </a:prstGeom>
          <a:solidFill>
            <a:srgbClr val="4CAFEC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73152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Microservices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365760" y="59436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4CAFE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Five independent Go services — each with its own DB, routes, and responsibilities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56032" y="1188720"/>
            <a:ext cx="2240280" cy="5212080"/>
          </a:xfrm>
          <a:prstGeom prst="rect">
            <a:avLst/>
          </a:prstGeom>
          <a:solidFill>
            <a:srgbClr val="1A2742"/>
          </a:solidFill>
          <a:ln/>
        </p:spPr>
      </p:sp>
      <p:sp>
        <p:nvSpPr>
          <p:cNvPr id="7" name="Shape 5"/>
          <p:cNvSpPr/>
          <p:nvPr/>
        </p:nvSpPr>
        <p:spPr>
          <a:xfrm>
            <a:off x="256032" y="1188720"/>
            <a:ext cx="2240280" cy="54864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8" name="Text 6"/>
          <p:cNvSpPr/>
          <p:nvPr/>
        </p:nvSpPr>
        <p:spPr>
          <a:xfrm>
            <a:off x="347472" y="1234440"/>
            <a:ext cx="20574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User Service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:8001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47472" y="1901952"/>
            <a:ext cx="2057400" cy="22860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10" name="Text 8"/>
          <p:cNvSpPr/>
          <p:nvPr/>
        </p:nvSpPr>
        <p:spPr>
          <a:xfrm>
            <a:off x="374904" y="1938528"/>
            <a:ext cx="2029968" cy="429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B0BE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POST /register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B0BE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POST /login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B0BE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GET  /me</a:t>
            </a:r>
            <a:endParaRPr lang="en-US" sz="950" dirty="0"/>
          </a:p>
          <a:p>
            <a:pPr algn="l" indent="0" marL="0">
              <a:buNone/>
            </a:pP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B0BE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DB: users.db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B0BE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JWT token issuance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B0BE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BCrypt password hash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633472" y="1188720"/>
            <a:ext cx="2240280" cy="5212080"/>
          </a:xfrm>
          <a:prstGeom prst="rect">
            <a:avLst/>
          </a:prstGeom>
          <a:solidFill>
            <a:srgbClr val="1A2742"/>
          </a:solidFill>
          <a:ln/>
        </p:spPr>
      </p:sp>
      <p:sp>
        <p:nvSpPr>
          <p:cNvPr id="12" name="Shape 10"/>
          <p:cNvSpPr/>
          <p:nvPr/>
        </p:nvSpPr>
        <p:spPr>
          <a:xfrm>
            <a:off x="2633472" y="1188720"/>
            <a:ext cx="2240280" cy="54864"/>
          </a:xfrm>
          <a:prstGeom prst="rect">
            <a:avLst/>
          </a:prstGeom>
          <a:solidFill>
            <a:srgbClr val="4A148C"/>
          </a:solidFill>
          <a:ln/>
        </p:spPr>
      </p:sp>
      <p:sp>
        <p:nvSpPr>
          <p:cNvPr id="13" name="Text 11"/>
          <p:cNvSpPr/>
          <p:nvPr/>
        </p:nvSpPr>
        <p:spPr>
          <a:xfrm>
            <a:off x="2724912" y="1234440"/>
            <a:ext cx="20574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Catalog Service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:8002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724912" y="1901952"/>
            <a:ext cx="2057400" cy="22860"/>
          </a:xfrm>
          <a:prstGeom prst="rect">
            <a:avLst/>
          </a:prstGeom>
          <a:solidFill>
            <a:srgbClr val="4A148C"/>
          </a:solidFill>
          <a:ln/>
        </p:spPr>
      </p:sp>
      <p:sp>
        <p:nvSpPr>
          <p:cNvPr id="15" name="Text 13"/>
          <p:cNvSpPr/>
          <p:nvPr/>
        </p:nvSpPr>
        <p:spPr>
          <a:xfrm>
            <a:off x="2752344" y="1938528"/>
            <a:ext cx="2029968" cy="429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B0BE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GET /books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B0BE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GET /books/:id</a:t>
            </a:r>
            <a:endParaRPr lang="en-US" sz="950" dirty="0"/>
          </a:p>
          <a:p>
            <a:pPr algn="l" indent="0" marL="0">
              <a:buNone/>
            </a:pP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B0BE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DB: catalog.db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B0BE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Book: Title, Author,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B0BE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Price, Category,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B0BE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ImageURL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010912" y="1188720"/>
            <a:ext cx="2240280" cy="5212080"/>
          </a:xfrm>
          <a:prstGeom prst="rect">
            <a:avLst/>
          </a:prstGeom>
          <a:solidFill>
            <a:srgbClr val="1A2742"/>
          </a:solidFill>
          <a:ln/>
        </p:spPr>
      </p:sp>
      <p:sp>
        <p:nvSpPr>
          <p:cNvPr id="17" name="Shape 15"/>
          <p:cNvSpPr/>
          <p:nvPr/>
        </p:nvSpPr>
        <p:spPr>
          <a:xfrm>
            <a:off x="5010912" y="1188720"/>
            <a:ext cx="2240280" cy="54864"/>
          </a:xfrm>
          <a:prstGeom prst="rect">
            <a:avLst/>
          </a:prstGeom>
          <a:solidFill>
            <a:srgbClr val="0D478A"/>
          </a:solidFill>
          <a:ln/>
        </p:spPr>
      </p:sp>
      <p:sp>
        <p:nvSpPr>
          <p:cNvPr id="18" name="Text 16"/>
          <p:cNvSpPr/>
          <p:nvPr/>
        </p:nvSpPr>
        <p:spPr>
          <a:xfrm>
            <a:off x="5102352" y="1234440"/>
            <a:ext cx="20574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Inventory Service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:8003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102352" y="1901952"/>
            <a:ext cx="2057400" cy="22860"/>
          </a:xfrm>
          <a:prstGeom prst="rect">
            <a:avLst/>
          </a:prstGeom>
          <a:solidFill>
            <a:srgbClr val="0D478A"/>
          </a:solidFill>
          <a:ln/>
        </p:spPr>
      </p:sp>
      <p:sp>
        <p:nvSpPr>
          <p:cNvPr id="20" name="Text 18"/>
          <p:cNvSpPr/>
          <p:nvPr/>
        </p:nvSpPr>
        <p:spPr>
          <a:xfrm>
            <a:off x="5129784" y="1938528"/>
            <a:ext cx="2029968" cy="429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B0BE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GET  /inventory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B0BE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GET  /inventory/:id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B0BE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POST /inventory/restock</a:t>
            </a:r>
            <a:endParaRPr lang="en-US" sz="950" dirty="0"/>
          </a:p>
          <a:p>
            <a:pPr algn="l" indent="0" marL="0">
              <a:buNone/>
            </a:pP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B0BE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DB: inventory.db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B0BE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Listens: order.placed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B0BE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Decrements stock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7388352" y="1188720"/>
            <a:ext cx="2240280" cy="5212080"/>
          </a:xfrm>
          <a:prstGeom prst="rect">
            <a:avLst/>
          </a:prstGeom>
          <a:solidFill>
            <a:srgbClr val="1A2742"/>
          </a:solidFill>
          <a:ln/>
        </p:spPr>
      </p:sp>
      <p:sp>
        <p:nvSpPr>
          <p:cNvPr id="22" name="Shape 20"/>
          <p:cNvSpPr/>
          <p:nvPr/>
        </p:nvSpPr>
        <p:spPr>
          <a:xfrm>
            <a:off x="7388352" y="1188720"/>
            <a:ext cx="2240280" cy="54864"/>
          </a:xfrm>
          <a:prstGeom prst="rect">
            <a:avLst/>
          </a:prstGeom>
          <a:solidFill>
            <a:srgbClr val="7C3A00"/>
          </a:solidFill>
          <a:ln/>
        </p:spPr>
      </p:sp>
      <p:sp>
        <p:nvSpPr>
          <p:cNvPr id="23" name="Text 21"/>
          <p:cNvSpPr/>
          <p:nvPr/>
        </p:nvSpPr>
        <p:spPr>
          <a:xfrm>
            <a:off x="7479792" y="1234440"/>
            <a:ext cx="20574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Order Service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:8004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7479792" y="1901952"/>
            <a:ext cx="2057400" cy="22860"/>
          </a:xfrm>
          <a:prstGeom prst="rect">
            <a:avLst/>
          </a:prstGeom>
          <a:solidFill>
            <a:srgbClr val="7C3A00"/>
          </a:solidFill>
          <a:ln/>
        </p:spPr>
      </p:sp>
      <p:sp>
        <p:nvSpPr>
          <p:cNvPr id="25" name="Text 23"/>
          <p:cNvSpPr/>
          <p:nvPr/>
        </p:nvSpPr>
        <p:spPr>
          <a:xfrm>
            <a:off x="7507224" y="1938528"/>
            <a:ext cx="2029968" cy="429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B0BE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POST /orders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B0BE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GET  /orders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B0BE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GET  /orders/:id</a:t>
            </a:r>
            <a:endParaRPr lang="en-US" sz="950" dirty="0"/>
          </a:p>
          <a:p>
            <a:pPr algn="l" indent="0" marL="0">
              <a:buNone/>
            </a:pP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B0BE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DB: orders.db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B0BE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Publishes: order.placed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B0BE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Checks catalog price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9765792" y="1188720"/>
            <a:ext cx="2240280" cy="5212080"/>
          </a:xfrm>
          <a:prstGeom prst="rect">
            <a:avLst/>
          </a:prstGeom>
          <a:solidFill>
            <a:srgbClr val="1A2742"/>
          </a:solidFill>
          <a:ln/>
        </p:spPr>
      </p:sp>
      <p:sp>
        <p:nvSpPr>
          <p:cNvPr id="27" name="Shape 25"/>
          <p:cNvSpPr/>
          <p:nvPr/>
        </p:nvSpPr>
        <p:spPr>
          <a:xfrm>
            <a:off x="9765792" y="1188720"/>
            <a:ext cx="2240280" cy="54864"/>
          </a:xfrm>
          <a:prstGeom prst="rect">
            <a:avLst/>
          </a:prstGeom>
          <a:solidFill>
            <a:srgbClr val="620000"/>
          </a:solidFill>
          <a:ln/>
        </p:spPr>
      </p:sp>
      <p:sp>
        <p:nvSpPr>
          <p:cNvPr id="28" name="Text 26"/>
          <p:cNvSpPr/>
          <p:nvPr/>
        </p:nvSpPr>
        <p:spPr>
          <a:xfrm>
            <a:off x="9857232" y="1234440"/>
            <a:ext cx="20574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Payment Service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:8005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9857232" y="1901952"/>
            <a:ext cx="2057400" cy="22860"/>
          </a:xfrm>
          <a:prstGeom prst="rect">
            <a:avLst/>
          </a:prstGeom>
          <a:solidFill>
            <a:srgbClr val="620000"/>
          </a:solidFill>
          <a:ln/>
        </p:spPr>
      </p:sp>
      <p:sp>
        <p:nvSpPr>
          <p:cNvPr id="30" name="Text 28"/>
          <p:cNvSpPr/>
          <p:nvPr/>
        </p:nvSpPr>
        <p:spPr>
          <a:xfrm>
            <a:off x="9884664" y="1938528"/>
            <a:ext cx="2029968" cy="429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B0BE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GET /payments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B0BE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GET /payments/:order_id</a:t>
            </a:r>
            <a:endParaRPr lang="en-US" sz="950" dirty="0"/>
          </a:p>
          <a:p>
            <a:pPr algn="l" indent="0" marL="0">
              <a:buNone/>
            </a:pP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B0BE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DB: payments.db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B0BE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Listens: order.placed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B0BE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Auto-processes payment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B0BE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Publishes: payment.done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Shape 1"/>
          <p:cNvSpPr/>
          <p:nvPr/>
        </p:nvSpPr>
        <p:spPr>
          <a:xfrm>
            <a:off x="365760" y="109728"/>
            <a:ext cx="1463040" cy="54864"/>
          </a:xfrm>
          <a:prstGeom prst="rect">
            <a:avLst/>
          </a:prstGeom>
          <a:solidFill>
            <a:srgbClr val="4CAFEC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73152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Asynchronous Messaging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365760" y="59436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4CAFE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Event-driven communication via RabbitMQ (AMQP) — decouples services at runtime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2011680"/>
            <a:ext cx="2194560" cy="822960"/>
          </a:xfrm>
          <a:prstGeom prst="rect">
            <a:avLst/>
          </a:prstGeom>
          <a:solidFill>
            <a:srgbClr val="7C3A00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2011680"/>
            <a:ext cx="2194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Order Service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560320" y="2386584"/>
            <a:ext cx="914400" cy="45720"/>
          </a:xfrm>
          <a:prstGeom prst="rect">
            <a:avLst/>
          </a:prstGeom>
          <a:solidFill>
            <a:srgbClr val="FF6600"/>
          </a:solidFill>
          <a:ln/>
        </p:spPr>
      </p:sp>
      <p:sp>
        <p:nvSpPr>
          <p:cNvPr id="9" name="Text 7"/>
          <p:cNvSpPr/>
          <p:nvPr/>
        </p:nvSpPr>
        <p:spPr>
          <a:xfrm>
            <a:off x="2542032" y="2176272"/>
            <a:ext cx="960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66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order.placed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474720" y="1600200"/>
            <a:ext cx="2651760" cy="1828800"/>
          </a:xfrm>
          <a:prstGeom prst="rect">
            <a:avLst/>
          </a:prstGeom>
          <a:solidFill>
            <a:srgbClr val="4A1A00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0" y="1600200"/>
            <a:ext cx="2651760" cy="64008"/>
          </a:xfrm>
          <a:prstGeom prst="rect">
            <a:avLst/>
          </a:prstGeom>
          <a:solidFill>
            <a:srgbClr val="FF6600"/>
          </a:solidFill>
          <a:ln/>
        </p:spPr>
      </p:sp>
      <p:sp>
        <p:nvSpPr>
          <p:cNvPr id="12" name="Text 10"/>
          <p:cNvSpPr/>
          <p:nvPr/>
        </p:nvSpPr>
        <p:spPr>
          <a:xfrm>
            <a:off x="3474720" y="1627632"/>
            <a:ext cx="2651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66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RabbitMQ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66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Event Bus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566160" y="2331720"/>
            <a:ext cx="2468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B0BE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amqp://rabbitmq:5672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B0BE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Durable queues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B0BE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Health-checked on boot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B0BE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Fan-out delivery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492240" y="1371600"/>
            <a:ext cx="2377440" cy="822960"/>
          </a:xfrm>
          <a:prstGeom prst="rect">
            <a:avLst/>
          </a:prstGeom>
          <a:solidFill>
            <a:srgbClr val="0D478A"/>
          </a:solidFill>
          <a:ln/>
        </p:spPr>
      </p:sp>
      <p:sp>
        <p:nvSpPr>
          <p:cNvPr id="15" name="Text 13"/>
          <p:cNvSpPr/>
          <p:nvPr/>
        </p:nvSpPr>
        <p:spPr>
          <a:xfrm>
            <a:off x="6492240" y="137160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Inventory Service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126480" y="1764792"/>
            <a:ext cx="384048" cy="36576"/>
          </a:xfrm>
          <a:prstGeom prst="rect">
            <a:avLst/>
          </a:prstGeom>
          <a:solidFill>
            <a:srgbClr val="4CAFEC"/>
          </a:solidFill>
          <a:ln/>
        </p:spPr>
      </p:sp>
      <p:sp>
        <p:nvSpPr>
          <p:cNvPr id="17" name="Text 15"/>
          <p:cNvSpPr/>
          <p:nvPr/>
        </p:nvSpPr>
        <p:spPr>
          <a:xfrm>
            <a:off x="6053328" y="1591056"/>
            <a:ext cx="731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4CAFE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subscribes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6492240" y="2743200"/>
            <a:ext cx="2377440" cy="822960"/>
          </a:xfrm>
          <a:prstGeom prst="rect">
            <a:avLst/>
          </a:prstGeom>
          <a:solidFill>
            <a:srgbClr val="620000"/>
          </a:solidFill>
          <a:ln/>
        </p:spPr>
      </p:sp>
      <p:sp>
        <p:nvSpPr>
          <p:cNvPr id="19" name="Text 17"/>
          <p:cNvSpPr/>
          <p:nvPr/>
        </p:nvSpPr>
        <p:spPr>
          <a:xfrm>
            <a:off x="6492240" y="274320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Payment Service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126480" y="3127248"/>
            <a:ext cx="384048" cy="36576"/>
          </a:xfrm>
          <a:prstGeom prst="rect">
            <a:avLst/>
          </a:prstGeom>
          <a:solidFill>
            <a:srgbClr val="4CAFEC"/>
          </a:solidFill>
          <a:ln/>
        </p:spPr>
      </p:sp>
      <p:sp>
        <p:nvSpPr>
          <p:cNvPr id="21" name="Text 19"/>
          <p:cNvSpPr/>
          <p:nvPr/>
        </p:nvSpPr>
        <p:spPr>
          <a:xfrm>
            <a:off x="6053328" y="2944368"/>
            <a:ext cx="731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4CAFE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subscribes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8869680" y="3127248"/>
            <a:ext cx="914400" cy="36576"/>
          </a:xfrm>
          <a:prstGeom prst="rect">
            <a:avLst/>
          </a:prstGeom>
          <a:solidFill>
            <a:srgbClr val="249E6B"/>
          </a:solidFill>
          <a:ln/>
        </p:spPr>
      </p:sp>
      <p:sp>
        <p:nvSpPr>
          <p:cNvPr id="23" name="Text 21"/>
          <p:cNvSpPr/>
          <p:nvPr/>
        </p:nvSpPr>
        <p:spPr>
          <a:xfrm>
            <a:off x="8851392" y="2944368"/>
            <a:ext cx="960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249E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payment.done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9784080" y="2743200"/>
            <a:ext cx="2103120" cy="822960"/>
          </a:xfrm>
          <a:prstGeom prst="rect">
            <a:avLst/>
          </a:prstGeom>
          <a:solidFill>
            <a:srgbClr val="7C3A00"/>
          </a:solidFill>
          <a:ln/>
        </p:spPr>
      </p:sp>
      <p:sp>
        <p:nvSpPr>
          <p:cNvPr id="25" name="Text 23"/>
          <p:cNvSpPr/>
          <p:nvPr/>
        </p:nvSpPr>
        <p:spPr>
          <a:xfrm>
            <a:off x="9784080" y="2743200"/>
            <a:ext cx="2103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Order Service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(updates status)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65760" y="4251960"/>
            <a:ext cx="11430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4CAFE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Benefits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365760" y="4617720"/>
            <a:ext cx="114300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B0BE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 Loose coupling — services are completely unaware of each other's internals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B0BE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 Resilient — if a subscriber is offline, messages queue up and auto-replay on restart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B0BE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 Scalable — add more consumers without modifying the publisher code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B0BE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 RabbitMQ Management UI available on port :15672 for monitoring queues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Shape 1"/>
          <p:cNvSpPr/>
          <p:nvPr/>
        </p:nvSpPr>
        <p:spPr>
          <a:xfrm>
            <a:off x="365760" y="109728"/>
            <a:ext cx="1463040" cy="54864"/>
          </a:xfrm>
          <a:prstGeom prst="rect">
            <a:avLst/>
          </a:prstGeom>
          <a:solidFill>
            <a:srgbClr val="4CAFEC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73152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 Layer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365760" y="59436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4CAFE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Embedded SQLite databases via GORM ORM — one .db file per service, auto-created on boot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56032" y="1188720"/>
            <a:ext cx="2240280" cy="5029200"/>
          </a:xfrm>
          <a:prstGeom prst="rect">
            <a:avLst/>
          </a:prstGeom>
          <a:solidFill>
            <a:srgbClr val="1A2742"/>
          </a:solidFill>
          <a:ln/>
        </p:spPr>
      </p:sp>
      <p:sp>
        <p:nvSpPr>
          <p:cNvPr id="7" name="Shape 5"/>
          <p:cNvSpPr/>
          <p:nvPr/>
        </p:nvSpPr>
        <p:spPr>
          <a:xfrm>
            <a:off x="256032" y="1188720"/>
            <a:ext cx="2240280" cy="54864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8" name="Text 6"/>
          <p:cNvSpPr/>
          <p:nvPr/>
        </p:nvSpPr>
        <p:spPr>
          <a:xfrm>
            <a:off x="347472" y="1234440"/>
            <a:ext cx="2057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5E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users.db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47472" y="1627632"/>
            <a:ext cx="2057400" cy="22860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10" name="Text 8"/>
          <p:cNvSpPr/>
          <p:nvPr/>
        </p:nvSpPr>
        <p:spPr>
          <a:xfrm>
            <a:off x="374904" y="1673352"/>
            <a:ext cx="2029968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B0BE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Table: users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B0BE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id (PK, auto)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B0BE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name  string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B0BE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email (unique)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B0BE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password (bcrypt)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B0BE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role (admin/customer)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B0BE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created_at / updated_at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633472" y="1188720"/>
            <a:ext cx="2240280" cy="5029200"/>
          </a:xfrm>
          <a:prstGeom prst="rect">
            <a:avLst/>
          </a:prstGeom>
          <a:solidFill>
            <a:srgbClr val="1A2742"/>
          </a:solidFill>
          <a:ln/>
        </p:spPr>
      </p:sp>
      <p:sp>
        <p:nvSpPr>
          <p:cNvPr id="12" name="Shape 10"/>
          <p:cNvSpPr/>
          <p:nvPr/>
        </p:nvSpPr>
        <p:spPr>
          <a:xfrm>
            <a:off x="2633472" y="1188720"/>
            <a:ext cx="2240280" cy="54864"/>
          </a:xfrm>
          <a:prstGeom prst="rect">
            <a:avLst/>
          </a:prstGeom>
          <a:solidFill>
            <a:srgbClr val="4A148C"/>
          </a:solidFill>
          <a:ln/>
        </p:spPr>
      </p:sp>
      <p:sp>
        <p:nvSpPr>
          <p:cNvPr id="13" name="Text 11"/>
          <p:cNvSpPr/>
          <p:nvPr/>
        </p:nvSpPr>
        <p:spPr>
          <a:xfrm>
            <a:off x="2724912" y="1234440"/>
            <a:ext cx="2057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A14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catalog.db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2724912" y="1627632"/>
            <a:ext cx="2057400" cy="22860"/>
          </a:xfrm>
          <a:prstGeom prst="rect">
            <a:avLst/>
          </a:prstGeom>
          <a:solidFill>
            <a:srgbClr val="4A148C"/>
          </a:solidFill>
          <a:ln/>
        </p:spPr>
      </p:sp>
      <p:sp>
        <p:nvSpPr>
          <p:cNvPr id="15" name="Text 13"/>
          <p:cNvSpPr/>
          <p:nvPr/>
        </p:nvSpPr>
        <p:spPr>
          <a:xfrm>
            <a:off x="2752344" y="1673352"/>
            <a:ext cx="2029968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B0BE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Table: books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B0BE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id (PK, auto)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B0BE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title    string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B0BE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author   string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B0BE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category string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B0BE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price    float64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B0BE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image_url string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010912" y="1188720"/>
            <a:ext cx="2240280" cy="5029200"/>
          </a:xfrm>
          <a:prstGeom prst="rect">
            <a:avLst/>
          </a:prstGeom>
          <a:solidFill>
            <a:srgbClr val="1A2742"/>
          </a:solidFill>
          <a:ln/>
        </p:spPr>
      </p:sp>
      <p:sp>
        <p:nvSpPr>
          <p:cNvPr id="17" name="Shape 15"/>
          <p:cNvSpPr/>
          <p:nvPr/>
        </p:nvSpPr>
        <p:spPr>
          <a:xfrm>
            <a:off x="5010912" y="1188720"/>
            <a:ext cx="2240280" cy="54864"/>
          </a:xfrm>
          <a:prstGeom prst="rect">
            <a:avLst/>
          </a:prstGeom>
          <a:solidFill>
            <a:srgbClr val="0D478A"/>
          </a:solidFill>
          <a:ln/>
        </p:spPr>
      </p:sp>
      <p:sp>
        <p:nvSpPr>
          <p:cNvPr id="18" name="Text 16"/>
          <p:cNvSpPr/>
          <p:nvPr/>
        </p:nvSpPr>
        <p:spPr>
          <a:xfrm>
            <a:off x="5102352" y="1234440"/>
            <a:ext cx="2057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47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inventory.db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102352" y="1627632"/>
            <a:ext cx="2057400" cy="22860"/>
          </a:xfrm>
          <a:prstGeom prst="rect">
            <a:avLst/>
          </a:prstGeom>
          <a:solidFill>
            <a:srgbClr val="0D478A"/>
          </a:solidFill>
          <a:ln/>
        </p:spPr>
      </p:sp>
      <p:sp>
        <p:nvSpPr>
          <p:cNvPr id="20" name="Text 18"/>
          <p:cNvSpPr/>
          <p:nvPr/>
        </p:nvSpPr>
        <p:spPr>
          <a:xfrm>
            <a:off x="5129784" y="1673352"/>
            <a:ext cx="2029968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B0BE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Table: inventories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B0BE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id (PK)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B0BE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book_id (FK)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B0BE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quantity int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B0BE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Auto-seeded on start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B0BE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Decrements on order.placed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B0BE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POST /inventory/restock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7388352" y="1188720"/>
            <a:ext cx="2240280" cy="5029200"/>
          </a:xfrm>
          <a:prstGeom prst="rect">
            <a:avLst/>
          </a:prstGeom>
          <a:solidFill>
            <a:srgbClr val="1A2742"/>
          </a:solidFill>
          <a:ln/>
        </p:spPr>
      </p:sp>
      <p:sp>
        <p:nvSpPr>
          <p:cNvPr id="22" name="Shape 20"/>
          <p:cNvSpPr/>
          <p:nvPr/>
        </p:nvSpPr>
        <p:spPr>
          <a:xfrm>
            <a:off x="7388352" y="1188720"/>
            <a:ext cx="2240280" cy="54864"/>
          </a:xfrm>
          <a:prstGeom prst="rect">
            <a:avLst/>
          </a:prstGeom>
          <a:solidFill>
            <a:srgbClr val="7C3A00"/>
          </a:solidFill>
          <a:ln/>
        </p:spPr>
      </p:sp>
      <p:sp>
        <p:nvSpPr>
          <p:cNvPr id="23" name="Text 21"/>
          <p:cNvSpPr/>
          <p:nvPr/>
        </p:nvSpPr>
        <p:spPr>
          <a:xfrm>
            <a:off x="7479792" y="1234440"/>
            <a:ext cx="2057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C3A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orders.db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7479792" y="1627632"/>
            <a:ext cx="2057400" cy="22860"/>
          </a:xfrm>
          <a:prstGeom prst="rect">
            <a:avLst/>
          </a:prstGeom>
          <a:solidFill>
            <a:srgbClr val="7C3A00"/>
          </a:solidFill>
          <a:ln/>
        </p:spPr>
      </p:sp>
      <p:sp>
        <p:nvSpPr>
          <p:cNvPr id="25" name="Text 23"/>
          <p:cNvSpPr/>
          <p:nvPr/>
        </p:nvSpPr>
        <p:spPr>
          <a:xfrm>
            <a:off x="7507224" y="1673352"/>
            <a:ext cx="2029968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B0BE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Table: orders + items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B0BE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id, user_email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B0BE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status, total_price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B0BE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created_at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B0BE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order_items: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B0BE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book_id, quantity,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B0BE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unit_price, subtotal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9765792" y="1188720"/>
            <a:ext cx="2240280" cy="5029200"/>
          </a:xfrm>
          <a:prstGeom prst="rect">
            <a:avLst/>
          </a:prstGeom>
          <a:solidFill>
            <a:srgbClr val="1A2742"/>
          </a:solidFill>
          <a:ln/>
        </p:spPr>
      </p:sp>
      <p:sp>
        <p:nvSpPr>
          <p:cNvPr id="27" name="Shape 25"/>
          <p:cNvSpPr/>
          <p:nvPr/>
        </p:nvSpPr>
        <p:spPr>
          <a:xfrm>
            <a:off x="9765792" y="1188720"/>
            <a:ext cx="2240280" cy="54864"/>
          </a:xfrm>
          <a:prstGeom prst="rect">
            <a:avLst/>
          </a:prstGeom>
          <a:solidFill>
            <a:srgbClr val="620000"/>
          </a:solidFill>
          <a:ln/>
        </p:spPr>
      </p:sp>
      <p:sp>
        <p:nvSpPr>
          <p:cNvPr id="28" name="Text 26"/>
          <p:cNvSpPr/>
          <p:nvPr/>
        </p:nvSpPr>
        <p:spPr>
          <a:xfrm>
            <a:off x="9857232" y="1234440"/>
            <a:ext cx="2057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2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payments.db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9857232" y="1627632"/>
            <a:ext cx="2057400" cy="22860"/>
          </a:xfrm>
          <a:prstGeom prst="rect">
            <a:avLst/>
          </a:prstGeom>
          <a:solidFill>
            <a:srgbClr val="620000"/>
          </a:solidFill>
          <a:ln/>
        </p:spPr>
      </p:sp>
      <p:sp>
        <p:nvSpPr>
          <p:cNvPr id="30" name="Text 28"/>
          <p:cNvSpPr/>
          <p:nvPr/>
        </p:nvSpPr>
        <p:spPr>
          <a:xfrm>
            <a:off x="9884664" y="1673352"/>
            <a:ext cx="2029968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B0BE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Table: payments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B0BE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id (PK)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B0BE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order_id (FK)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B0BE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amount float64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B0BE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status string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B0BE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method string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B0BE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paid_at timestamp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274320" y="6446520"/>
            <a:ext cx="11612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B0BE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ORM: GORM with AutoMigrate  •  Driver: glebarez/sqlite (pure-Go, CGO_ENABLED=0)  •  Docker volumes persist data across restarts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Shape 1"/>
          <p:cNvSpPr/>
          <p:nvPr/>
        </p:nvSpPr>
        <p:spPr>
          <a:xfrm>
            <a:off x="365760" y="109728"/>
            <a:ext cx="1463040" cy="54864"/>
          </a:xfrm>
          <a:prstGeom prst="rect">
            <a:avLst/>
          </a:prstGeom>
          <a:solidFill>
            <a:srgbClr val="4CAFEC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73152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Containerisation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365760" y="59436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4CAFE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Fully orchestrated with Docker Compose — multi-stage builds for lean images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01752" y="1170432"/>
            <a:ext cx="5760720" cy="2487168"/>
          </a:xfrm>
          <a:prstGeom prst="rect">
            <a:avLst/>
          </a:prstGeom>
          <a:solidFill>
            <a:srgbClr val="1A2742"/>
          </a:solidFill>
          <a:ln/>
        </p:spPr>
      </p:sp>
      <p:sp>
        <p:nvSpPr>
          <p:cNvPr id="7" name="Shape 5"/>
          <p:cNvSpPr/>
          <p:nvPr/>
        </p:nvSpPr>
        <p:spPr>
          <a:xfrm>
            <a:off x="301752" y="1170432"/>
            <a:ext cx="54864" cy="2487168"/>
          </a:xfrm>
          <a:prstGeom prst="rect">
            <a:avLst/>
          </a:prstGeom>
          <a:solidFill>
            <a:srgbClr val="4CAFEC"/>
          </a:solidFill>
          <a:ln/>
        </p:spPr>
      </p:sp>
      <p:sp>
        <p:nvSpPr>
          <p:cNvPr id="8" name="Text 6"/>
          <p:cNvSpPr/>
          <p:nvPr/>
        </p:nvSpPr>
        <p:spPr>
          <a:xfrm>
            <a:off x="429768" y="1261872"/>
            <a:ext cx="5532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AFE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Multi-Stage Dockerfile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29768" y="1609344"/>
            <a:ext cx="5504688" cy="22860"/>
          </a:xfrm>
          <a:prstGeom prst="rect">
            <a:avLst/>
          </a:prstGeom>
          <a:solidFill>
            <a:srgbClr val="4CAFEC"/>
          </a:solidFill>
          <a:ln/>
        </p:spPr>
      </p:sp>
      <p:sp>
        <p:nvSpPr>
          <p:cNvPr id="10" name="Text 8"/>
          <p:cNvSpPr/>
          <p:nvPr/>
        </p:nvSpPr>
        <p:spPr>
          <a:xfrm>
            <a:off x="429768" y="1645920"/>
            <a:ext cx="5504688" cy="1892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B0BE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Stage 1 (builder) — golang:1.24-alpine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B0BE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• Copies entire Go workspace (go.work)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B0BE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• Runs: go work sync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B0BE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• Compiles binary: CGO_ENABLED=0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B0BE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Stage 2 (runtime) — alpine:3.19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B0BE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• Copies only compiled binary (~10MB image)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B0BE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• No Go toolchain shipped to production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01752" y="3803904"/>
            <a:ext cx="5760720" cy="2487168"/>
          </a:xfrm>
          <a:prstGeom prst="rect">
            <a:avLst/>
          </a:prstGeom>
          <a:solidFill>
            <a:srgbClr val="1A2742"/>
          </a:solidFill>
          <a:ln/>
        </p:spPr>
      </p:sp>
      <p:sp>
        <p:nvSpPr>
          <p:cNvPr id="12" name="Shape 10"/>
          <p:cNvSpPr/>
          <p:nvPr/>
        </p:nvSpPr>
        <p:spPr>
          <a:xfrm>
            <a:off x="301752" y="3803904"/>
            <a:ext cx="54864" cy="2487168"/>
          </a:xfrm>
          <a:prstGeom prst="rect">
            <a:avLst/>
          </a:prstGeom>
          <a:solidFill>
            <a:srgbClr val="FF8000"/>
          </a:solidFill>
          <a:ln/>
        </p:spPr>
      </p:sp>
      <p:sp>
        <p:nvSpPr>
          <p:cNvPr id="13" name="Text 11"/>
          <p:cNvSpPr/>
          <p:nvPr/>
        </p:nvSpPr>
        <p:spPr>
          <a:xfrm>
            <a:off x="429768" y="3895344"/>
            <a:ext cx="5532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8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Health Checks &amp; Dependencies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29768" y="4242816"/>
            <a:ext cx="5504688" cy="22860"/>
          </a:xfrm>
          <a:prstGeom prst="rect">
            <a:avLst/>
          </a:prstGeom>
          <a:solidFill>
            <a:srgbClr val="FF8000"/>
          </a:solidFill>
          <a:ln/>
        </p:spPr>
      </p:sp>
      <p:sp>
        <p:nvSpPr>
          <p:cNvPr id="15" name="Text 13"/>
          <p:cNvSpPr/>
          <p:nvPr/>
        </p:nvSpPr>
        <p:spPr>
          <a:xfrm>
            <a:off x="429768" y="4279392"/>
            <a:ext cx="5504688" cy="1892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B0BE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RabbitMQ is health-checked before any service starts: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B0BE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rabbitmq-diagnostics check_running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B0BE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Interval: 10s  |  Timeout: 5s  |  Retries: 5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B0BE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Services use depends_on with service_healthy condition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B0BE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Order service also waits for catalog-service to start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208776" y="1170432"/>
            <a:ext cx="5760720" cy="2487168"/>
          </a:xfrm>
          <a:prstGeom prst="rect">
            <a:avLst/>
          </a:prstGeom>
          <a:solidFill>
            <a:srgbClr val="1A2742"/>
          </a:solidFill>
          <a:ln/>
        </p:spPr>
      </p:sp>
      <p:sp>
        <p:nvSpPr>
          <p:cNvPr id="17" name="Shape 15"/>
          <p:cNvSpPr/>
          <p:nvPr/>
        </p:nvSpPr>
        <p:spPr>
          <a:xfrm>
            <a:off x="6208776" y="1170432"/>
            <a:ext cx="54864" cy="2487168"/>
          </a:xfrm>
          <a:prstGeom prst="rect">
            <a:avLst/>
          </a:prstGeom>
          <a:solidFill>
            <a:srgbClr val="249E6B"/>
          </a:solidFill>
          <a:ln/>
        </p:spPr>
      </p:sp>
      <p:sp>
        <p:nvSpPr>
          <p:cNvPr id="18" name="Text 16"/>
          <p:cNvSpPr/>
          <p:nvPr/>
        </p:nvSpPr>
        <p:spPr>
          <a:xfrm>
            <a:off x="6336792" y="1261872"/>
            <a:ext cx="5532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49E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Services &amp; Ports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336792" y="1609344"/>
            <a:ext cx="5504688" cy="22860"/>
          </a:xfrm>
          <a:prstGeom prst="rect">
            <a:avLst/>
          </a:prstGeom>
          <a:solidFill>
            <a:srgbClr val="249E6B"/>
          </a:solidFill>
          <a:ln/>
        </p:spPr>
      </p:sp>
      <p:sp>
        <p:nvSpPr>
          <p:cNvPr id="20" name="Text 18"/>
          <p:cNvSpPr/>
          <p:nvPr/>
        </p:nvSpPr>
        <p:spPr>
          <a:xfrm>
            <a:off x="6336792" y="1645920"/>
            <a:ext cx="5504688" cy="1892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B0BE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rabbitmq     → :5672, :15672 (management UI)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B0BE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api-gateway  → :8000  (public entry point)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B0BE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user-service      → :8001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B0BE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catalog-service   → :8002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B0BE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inventory-service → :8003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B0BE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order-service     → :8004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B0BE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payment-service   → :8005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6208776" y="3803904"/>
            <a:ext cx="5760720" cy="2487168"/>
          </a:xfrm>
          <a:prstGeom prst="rect">
            <a:avLst/>
          </a:prstGeom>
          <a:solidFill>
            <a:srgbClr val="1A2742"/>
          </a:solidFill>
          <a:ln/>
        </p:spPr>
      </p:sp>
      <p:sp>
        <p:nvSpPr>
          <p:cNvPr id="22" name="Shape 20"/>
          <p:cNvSpPr/>
          <p:nvPr/>
        </p:nvSpPr>
        <p:spPr>
          <a:xfrm>
            <a:off x="6208776" y="3803904"/>
            <a:ext cx="54864" cy="248716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3" name="Text 21"/>
          <p:cNvSpPr/>
          <p:nvPr/>
        </p:nvSpPr>
        <p:spPr>
          <a:xfrm>
            <a:off x="6336792" y="3895344"/>
            <a:ext cx="5532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7C3A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Persistent Volumes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336792" y="4242816"/>
            <a:ext cx="5504688" cy="2286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5" name="Text 23"/>
          <p:cNvSpPr/>
          <p:nvPr/>
        </p:nvSpPr>
        <p:spPr>
          <a:xfrm>
            <a:off x="6336792" y="4279392"/>
            <a:ext cx="5504688" cy="1892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B0BE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rabbitmq_data   → /var/lib/rabbitmq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B0BE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user_db_vol     → /app/data  (users.db)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B0BE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catalog_db_vol  → /app/data  (catalog.db)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B0BE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inventory_db_vol → /app/data (inventory.db)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B0BE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order_db_vol    → /app/data  (orders.db)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B0BE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payment_db_vol  → /app/data  (payments.db)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B0BE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SQLite files survive restarts &amp; rebuilds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Shape 1"/>
          <p:cNvSpPr/>
          <p:nvPr/>
        </p:nvSpPr>
        <p:spPr>
          <a:xfrm>
            <a:off x="365760" y="109728"/>
            <a:ext cx="1463040" cy="54864"/>
          </a:xfrm>
          <a:prstGeom prst="rect">
            <a:avLst/>
          </a:prstGeom>
          <a:solidFill>
            <a:srgbClr val="4CAFEC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73152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API Reference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365760" y="59436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4CAFE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All endpoints exposed through the API Gateway on port :8000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1188720"/>
            <a:ext cx="822960" cy="320040"/>
          </a:xfrm>
          <a:prstGeom prst="rect">
            <a:avLst/>
          </a:prstGeom>
          <a:solidFill>
            <a:srgbClr val="0D478A"/>
          </a:solidFill>
          <a:ln/>
        </p:spPr>
      </p:sp>
      <p:sp>
        <p:nvSpPr>
          <p:cNvPr id="7" name="Text 5"/>
          <p:cNvSpPr/>
          <p:nvPr/>
        </p:nvSpPr>
        <p:spPr>
          <a:xfrm>
            <a:off x="320040" y="1188720"/>
            <a:ext cx="822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Method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1115568" y="1188720"/>
            <a:ext cx="2926080" cy="320040"/>
          </a:xfrm>
          <a:prstGeom prst="rect">
            <a:avLst/>
          </a:prstGeom>
          <a:solidFill>
            <a:srgbClr val="0D478A"/>
          </a:solidFill>
          <a:ln/>
        </p:spPr>
      </p:sp>
      <p:sp>
        <p:nvSpPr>
          <p:cNvPr id="9" name="Text 7"/>
          <p:cNvSpPr/>
          <p:nvPr/>
        </p:nvSpPr>
        <p:spPr>
          <a:xfrm>
            <a:off x="1161288" y="118872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Endpoint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069080" y="1188720"/>
            <a:ext cx="2468880" cy="320040"/>
          </a:xfrm>
          <a:prstGeom prst="rect">
            <a:avLst/>
          </a:prstGeom>
          <a:solidFill>
            <a:srgbClr val="0D478A"/>
          </a:solidFill>
          <a:ln/>
        </p:spPr>
      </p:sp>
      <p:sp>
        <p:nvSpPr>
          <p:cNvPr id="11" name="Text 9"/>
          <p:cNvSpPr/>
          <p:nvPr/>
        </p:nvSpPr>
        <p:spPr>
          <a:xfrm>
            <a:off x="4114800" y="118872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Service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556248" y="1188720"/>
            <a:ext cx="1371600" cy="320040"/>
          </a:xfrm>
          <a:prstGeom prst="rect">
            <a:avLst/>
          </a:prstGeom>
          <a:solidFill>
            <a:srgbClr val="0D478A"/>
          </a:solidFill>
          <a:ln/>
        </p:spPr>
      </p:sp>
      <p:sp>
        <p:nvSpPr>
          <p:cNvPr id="13" name="Text 11"/>
          <p:cNvSpPr/>
          <p:nvPr/>
        </p:nvSpPr>
        <p:spPr>
          <a:xfrm>
            <a:off x="6601968" y="118872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Auth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955280" y="1188720"/>
            <a:ext cx="4069080" cy="320040"/>
          </a:xfrm>
          <a:prstGeom prst="rect">
            <a:avLst/>
          </a:prstGeom>
          <a:solidFill>
            <a:srgbClr val="0D478A"/>
          </a:solidFill>
          <a:ln/>
        </p:spPr>
      </p:sp>
      <p:sp>
        <p:nvSpPr>
          <p:cNvPr id="15" name="Text 13"/>
          <p:cNvSpPr/>
          <p:nvPr/>
        </p:nvSpPr>
        <p:spPr>
          <a:xfrm>
            <a:off x="8001000" y="1188720"/>
            <a:ext cx="4069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Description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74320" y="1508760"/>
            <a:ext cx="11750040" cy="333756"/>
          </a:xfrm>
          <a:prstGeom prst="rect">
            <a:avLst/>
          </a:prstGeom>
          <a:solidFill>
            <a:srgbClr val="1A2742"/>
          </a:solidFill>
          <a:ln/>
        </p:spPr>
      </p:sp>
      <p:sp>
        <p:nvSpPr>
          <p:cNvPr id="17" name="Text 15"/>
          <p:cNvSpPr/>
          <p:nvPr/>
        </p:nvSpPr>
        <p:spPr>
          <a:xfrm>
            <a:off x="320040" y="1527048"/>
            <a:ext cx="822960" cy="297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249E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POST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1161288" y="1527048"/>
            <a:ext cx="2926080" cy="297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/register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114800" y="1527048"/>
            <a:ext cx="2468880" cy="297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B0BE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User Service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6601968" y="1527048"/>
            <a:ext cx="1371600" cy="297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B0BE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Public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8001000" y="1527048"/>
            <a:ext cx="4069080" cy="297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B0BE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Register a new user account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274320" y="1842516"/>
            <a:ext cx="11750040" cy="333756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23" name="Text 21"/>
          <p:cNvSpPr/>
          <p:nvPr/>
        </p:nvSpPr>
        <p:spPr>
          <a:xfrm>
            <a:off x="320040" y="1860804"/>
            <a:ext cx="822960" cy="297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249E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POST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1161288" y="1860804"/>
            <a:ext cx="2926080" cy="297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/login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4114800" y="1860804"/>
            <a:ext cx="2468880" cy="297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B0BE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User Service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6601968" y="1860804"/>
            <a:ext cx="1371600" cy="297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B0BE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Public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8001000" y="1860804"/>
            <a:ext cx="4069080" cy="297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B0BE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Login &amp; receive JWT token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274320" y="2176272"/>
            <a:ext cx="11750040" cy="333756"/>
          </a:xfrm>
          <a:prstGeom prst="rect">
            <a:avLst/>
          </a:prstGeom>
          <a:solidFill>
            <a:srgbClr val="1A2742"/>
          </a:solidFill>
          <a:ln/>
        </p:spPr>
      </p:sp>
      <p:sp>
        <p:nvSpPr>
          <p:cNvPr id="29" name="Text 27"/>
          <p:cNvSpPr/>
          <p:nvPr/>
        </p:nvSpPr>
        <p:spPr>
          <a:xfrm>
            <a:off x="320040" y="2194560"/>
            <a:ext cx="822960" cy="297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091D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GET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1161288" y="2194560"/>
            <a:ext cx="2926080" cy="297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/books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4114800" y="2194560"/>
            <a:ext cx="2468880" cy="297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B0BE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Catalog Service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6601968" y="2194560"/>
            <a:ext cx="1371600" cy="297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B0BE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Public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8001000" y="2194560"/>
            <a:ext cx="4069080" cy="297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B0BE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List all books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274320" y="2510028"/>
            <a:ext cx="11750040" cy="333756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5" name="Text 33"/>
          <p:cNvSpPr/>
          <p:nvPr/>
        </p:nvSpPr>
        <p:spPr>
          <a:xfrm>
            <a:off x="320040" y="2528316"/>
            <a:ext cx="822960" cy="297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091D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GET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1161288" y="2528316"/>
            <a:ext cx="2926080" cy="297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/books/:id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4114800" y="2528316"/>
            <a:ext cx="2468880" cy="297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B0BE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Catalog Service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6601968" y="2528316"/>
            <a:ext cx="1371600" cy="297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B0BE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Public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8001000" y="2528316"/>
            <a:ext cx="4069080" cy="297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B0BE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Get single book details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274320" y="2843784"/>
            <a:ext cx="11750040" cy="333756"/>
          </a:xfrm>
          <a:prstGeom prst="rect">
            <a:avLst/>
          </a:prstGeom>
          <a:solidFill>
            <a:srgbClr val="1A2742"/>
          </a:solidFill>
          <a:ln/>
        </p:spPr>
      </p:sp>
      <p:sp>
        <p:nvSpPr>
          <p:cNvPr id="41" name="Text 39"/>
          <p:cNvSpPr/>
          <p:nvPr/>
        </p:nvSpPr>
        <p:spPr>
          <a:xfrm>
            <a:off x="320040" y="2862072"/>
            <a:ext cx="822960" cy="297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091D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GET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1161288" y="2862072"/>
            <a:ext cx="2926080" cy="297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/me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4114800" y="2862072"/>
            <a:ext cx="2468880" cy="297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B0BE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User Service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6601968" y="2862072"/>
            <a:ext cx="1371600" cy="297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FC10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🔒 JWT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8001000" y="2862072"/>
            <a:ext cx="4069080" cy="297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B0BE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Get current user profile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274320" y="3177540"/>
            <a:ext cx="11750040" cy="333756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47" name="Text 45"/>
          <p:cNvSpPr/>
          <p:nvPr/>
        </p:nvSpPr>
        <p:spPr>
          <a:xfrm>
            <a:off x="320040" y="3195828"/>
            <a:ext cx="822960" cy="297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249E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POST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1161288" y="3195828"/>
            <a:ext cx="2926080" cy="297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/orders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4114800" y="3195828"/>
            <a:ext cx="2468880" cy="297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B0BE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Order Service</a:t>
            </a:r>
            <a:endParaRPr lang="en-US" sz="950" dirty="0"/>
          </a:p>
        </p:txBody>
      </p:sp>
      <p:sp>
        <p:nvSpPr>
          <p:cNvPr id="50" name="Text 48"/>
          <p:cNvSpPr/>
          <p:nvPr/>
        </p:nvSpPr>
        <p:spPr>
          <a:xfrm>
            <a:off x="6601968" y="3195828"/>
            <a:ext cx="1371600" cy="297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FC10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🔒 JWT</a:t>
            </a:r>
            <a:endParaRPr lang="en-US" sz="950" dirty="0"/>
          </a:p>
        </p:txBody>
      </p:sp>
      <p:sp>
        <p:nvSpPr>
          <p:cNvPr id="51" name="Text 49"/>
          <p:cNvSpPr/>
          <p:nvPr/>
        </p:nvSpPr>
        <p:spPr>
          <a:xfrm>
            <a:off x="8001000" y="3195828"/>
            <a:ext cx="4069080" cy="297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B0BE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Create a new order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274320" y="3511296"/>
            <a:ext cx="11750040" cy="333756"/>
          </a:xfrm>
          <a:prstGeom prst="rect">
            <a:avLst/>
          </a:prstGeom>
          <a:solidFill>
            <a:srgbClr val="1A2742"/>
          </a:solidFill>
          <a:ln/>
        </p:spPr>
      </p:sp>
      <p:sp>
        <p:nvSpPr>
          <p:cNvPr id="53" name="Text 51"/>
          <p:cNvSpPr/>
          <p:nvPr/>
        </p:nvSpPr>
        <p:spPr>
          <a:xfrm>
            <a:off x="320040" y="3529584"/>
            <a:ext cx="822960" cy="297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091D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GET</a:t>
            </a:r>
            <a:endParaRPr lang="en-US" sz="950" dirty="0"/>
          </a:p>
        </p:txBody>
      </p:sp>
      <p:sp>
        <p:nvSpPr>
          <p:cNvPr id="54" name="Text 52"/>
          <p:cNvSpPr/>
          <p:nvPr/>
        </p:nvSpPr>
        <p:spPr>
          <a:xfrm>
            <a:off x="1161288" y="3529584"/>
            <a:ext cx="2926080" cy="297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/orders</a:t>
            </a:r>
            <a:endParaRPr lang="en-US" sz="950" dirty="0"/>
          </a:p>
        </p:txBody>
      </p:sp>
      <p:sp>
        <p:nvSpPr>
          <p:cNvPr id="55" name="Text 53"/>
          <p:cNvSpPr/>
          <p:nvPr/>
        </p:nvSpPr>
        <p:spPr>
          <a:xfrm>
            <a:off x="4114800" y="3529584"/>
            <a:ext cx="2468880" cy="297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B0BE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Order Service</a:t>
            </a:r>
            <a:endParaRPr lang="en-US" sz="950" dirty="0"/>
          </a:p>
        </p:txBody>
      </p:sp>
      <p:sp>
        <p:nvSpPr>
          <p:cNvPr id="56" name="Text 54"/>
          <p:cNvSpPr/>
          <p:nvPr/>
        </p:nvSpPr>
        <p:spPr>
          <a:xfrm>
            <a:off x="6601968" y="3529584"/>
            <a:ext cx="1371600" cy="297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FC10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🔒 JWT</a:t>
            </a:r>
            <a:endParaRPr lang="en-US" sz="950" dirty="0"/>
          </a:p>
        </p:txBody>
      </p:sp>
      <p:sp>
        <p:nvSpPr>
          <p:cNvPr id="57" name="Text 55"/>
          <p:cNvSpPr/>
          <p:nvPr/>
        </p:nvSpPr>
        <p:spPr>
          <a:xfrm>
            <a:off x="8001000" y="3529584"/>
            <a:ext cx="4069080" cy="297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B0BE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List all orders</a:t>
            </a:r>
            <a:endParaRPr lang="en-US" sz="950" dirty="0"/>
          </a:p>
        </p:txBody>
      </p:sp>
      <p:sp>
        <p:nvSpPr>
          <p:cNvPr id="58" name="Shape 56"/>
          <p:cNvSpPr/>
          <p:nvPr/>
        </p:nvSpPr>
        <p:spPr>
          <a:xfrm>
            <a:off x="274320" y="3845052"/>
            <a:ext cx="11750040" cy="333756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59" name="Text 57"/>
          <p:cNvSpPr/>
          <p:nvPr/>
        </p:nvSpPr>
        <p:spPr>
          <a:xfrm>
            <a:off x="320040" y="3863340"/>
            <a:ext cx="822960" cy="297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091D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GET</a:t>
            </a:r>
            <a:endParaRPr lang="en-US" sz="950" dirty="0"/>
          </a:p>
        </p:txBody>
      </p:sp>
      <p:sp>
        <p:nvSpPr>
          <p:cNvPr id="60" name="Text 58"/>
          <p:cNvSpPr/>
          <p:nvPr/>
        </p:nvSpPr>
        <p:spPr>
          <a:xfrm>
            <a:off x="1161288" y="3863340"/>
            <a:ext cx="2926080" cy="297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/orders/:id</a:t>
            </a:r>
            <a:endParaRPr lang="en-US" sz="950" dirty="0"/>
          </a:p>
        </p:txBody>
      </p:sp>
      <p:sp>
        <p:nvSpPr>
          <p:cNvPr id="61" name="Text 59"/>
          <p:cNvSpPr/>
          <p:nvPr/>
        </p:nvSpPr>
        <p:spPr>
          <a:xfrm>
            <a:off x="4114800" y="3863340"/>
            <a:ext cx="2468880" cy="297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B0BE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Order Service</a:t>
            </a:r>
            <a:endParaRPr lang="en-US" sz="950" dirty="0"/>
          </a:p>
        </p:txBody>
      </p:sp>
      <p:sp>
        <p:nvSpPr>
          <p:cNvPr id="62" name="Text 60"/>
          <p:cNvSpPr/>
          <p:nvPr/>
        </p:nvSpPr>
        <p:spPr>
          <a:xfrm>
            <a:off x="6601968" y="3863340"/>
            <a:ext cx="1371600" cy="297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FC10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🔒 JWT</a:t>
            </a:r>
            <a:endParaRPr lang="en-US" sz="950" dirty="0"/>
          </a:p>
        </p:txBody>
      </p:sp>
      <p:sp>
        <p:nvSpPr>
          <p:cNvPr id="63" name="Text 61"/>
          <p:cNvSpPr/>
          <p:nvPr/>
        </p:nvSpPr>
        <p:spPr>
          <a:xfrm>
            <a:off x="8001000" y="3863340"/>
            <a:ext cx="4069080" cy="297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B0BE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Get specific order</a:t>
            </a:r>
            <a:endParaRPr lang="en-US" sz="950" dirty="0"/>
          </a:p>
        </p:txBody>
      </p:sp>
      <p:sp>
        <p:nvSpPr>
          <p:cNvPr id="64" name="Shape 62"/>
          <p:cNvSpPr/>
          <p:nvPr/>
        </p:nvSpPr>
        <p:spPr>
          <a:xfrm>
            <a:off x="274320" y="4178808"/>
            <a:ext cx="11750040" cy="333756"/>
          </a:xfrm>
          <a:prstGeom prst="rect">
            <a:avLst/>
          </a:prstGeom>
          <a:solidFill>
            <a:srgbClr val="1A2742"/>
          </a:solidFill>
          <a:ln/>
        </p:spPr>
      </p:sp>
      <p:sp>
        <p:nvSpPr>
          <p:cNvPr id="65" name="Text 63"/>
          <p:cNvSpPr/>
          <p:nvPr/>
        </p:nvSpPr>
        <p:spPr>
          <a:xfrm>
            <a:off x="320040" y="4197096"/>
            <a:ext cx="822960" cy="297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091D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GET</a:t>
            </a:r>
            <a:endParaRPr lang="en-US" sz="950" dirty="0"/>
          </a:p>
        </p:txBody>
      </p:sp>
      <p:sp>
        <p:nvSpPr>
          <p:cNvPr id="66" name="Text 64"/>
          <p:cNvSpPr/>
          <p:nvPr/>
        </p:nvSpPr>
        <p:spPr>
          <a:xfrm>
            <a:off x="1161288" y="4197096"/>
            <a:ext cx="2926080" cy="297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/inventory</a:t>
            </a:r>
            <a:endParaRPr lang="en-US" sz="950" dirty="0"/>
          </a:p>
        </p:txBody>
      </p:sp>
      <p:sp>
        <p:nvSpPr>
          <p:cNvPr id="67" name="Text 65"/>
          <p:cNvSpPr/>
          <p:nvPr/>
        </p:nvSpPr>
        <p:spPr>
          <a:xfrm>
            <a:off x="4114800" y="4197096"/>
            <a:ext cx="2468880" cy="297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B0BE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Inventory Service</a:t>
            </a:r>
            <a:endParaRPr lang="en-US" sz="950" dirty="0"/>
          </a:p>
        </p:txBody>
      </p:sp>
      <p:sp>
        <p:nvSpPr>
          <p:cNvPr id="68" name="Text 66"/>
          <p:cNvSpPr/>
          <p:nvPr/>
        </p:nvSpPr>
        <p:spPr>
          <a:xfrm>
            <a:off x="6601968" y="4197096"/>
            <a:ext cx="1371600" cy="297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FC10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🔒 JWT</a:t>
            </a:r>
            <a:endParaRPr lang="en-US" sz="950" dirty="0"/>
          </a:p>
        </p:txBody>
      </p:sp>
      <p:sp>
        <p:nvSpPr>
          <p:cNvPr id="69" name="Text 67"/>
          <p:cNvSpPr/>
          <p:nvPr/>
        </p:nvSpPr>
        <p:spPr>
          <a:xfrm>
            <a:off x="8001000" y="4197096"/>
            <a:ext cx="4069080" cy="297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B0BE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List all inventory stock</a:t>
            </a:r>
            <a:endParaRPr lang="en-US" sz="950" dirty="0"/>
          </a:p>
        </p:txBody>
      </p:sp>
      <p:sp>
        <p:nvSpPr>
          <p:cNvPr id="70" name="Shape 68"/>
          <p:cNvSpPr/>
          <p:nvPr/>
        </p:nvSpPr>
        <p:spPr>
          <a:xfrm>
            <a:off x="274320" y="4512564"/>
            <a:ext cx="11750040" cy="333756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71" name="Text 69"/>
          <p:cNvSpPr/>
          <p:nvPr/>
        </p:nvSpPr>
        <p:spPr>
          <a:xfrm>
            <a:off x="320040" y="4530852"/>
            <a:ext cx="822960" cy="297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091D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GET</a:t>
            </a:r>
            <a:endParaRPr lang="en-US" sz="950" dirty="0"/>
          </a:p>
        </p:txBody>
      </p:sp>
      <p:sp>
        <p:nvSpPr>
          <p:cNvPr id="72" name="Text 70"/>
          <p:cNvSpPr/>
          <p:nvPr/>
        </p:nvSpPr>
        <p:spPr>
          <a:xfrm>
            <a:off x="1161288" y="4530852"/>
            <a:ext cx="2926080" cy="297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/inventory/:book_id</a:t>
            </a:r>
            <a:endParaRPr lang="en-US" sz="950" dirty="0"/>
          </a:p>
        </p:txBody>
      </p:sp>
      <p:sp>
        <p:nvSpPr>
          <p:cNvPr id="73" name="Text 71"/>
          <p:cNvSpPr/>
          <p:nvPr/>
        </p:nvSpPr>
        <p:spPr>
          <a:xfrm>
            <a:off x="4114800" y="4530852"/>
            <a:ext cx="2468880" cy="297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B0BE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Inventory Service</a:t>
            </a:r>
            <a:endParaRPr lang="en-US" sz="950" dirty="0"/>
          </a:p>
        </p:txBody>
      </p:sp>
      <p:sp>
        <p:nvSpPr>
          <p:cNvPr id="74" name="Text 72"/>
          <p:cNvSpPr/>
          <p:nvPr/>
        </p:nvSpPr>
        <p:spPr>
          <a:xfrm>
            <a:off x="6601968" y="4530852"/>
            <a:ext cx="1371600" cy="297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FC10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🔒 JWT</a:t>
            </a:r>
            <a:endParaRPr lang="en-US" sz="950" dirty="0"/>
          </a:p>
        </p:txBody>
      </p:sp>
      <p:sp>
        <p:nvSpPr>
          <p:cNvPr id="75" name="Text 73"/>
          <p:cNvSpPr/>
          <p:nvPr/>
        </p:nvSpPr>
        <p:spPr>
          <a:xfrm>
            <a:off x="8001000" y="4530852"/>
            <a:ext cx="4069080" cy="297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B0BE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Check stock for a book</a:t>
            </a:r>
            <a:endParaRPr lang="en-US" sz="950" dirty="0"/>
          </a:p>
        </p:txBody>
      </p:sp>
      <p:sp>
        <p:nvSpPr>
          <p:cNvPr id="76" name="Shape 74"/>
          <p:cNvSpPr/>
          <p:nvPr/>
        </p:nvSpPr>
        <p:spPr>
          <a:xfrm>
            <a:off x="274320" y="4846320"/>
            <a:ext cx="11750040" cy="333756"/>
          </a:xfrm>
          <a:prstGeom prst="rect">
            <a:avLst/>
          </a:prstGeom>
          <a:solidFill>
            <a:srgbClr val="1A2742"/>
          </a:solidFill>
          <a:ln/>
        </p:spPr>
      </p:sp>
      <p:sp>
        <p:nvSpPr>
          <p:cNvPr id="77" name="Text 75"/>
          <p:cNvSpPr/>
          <p:nvPr/>
        </p:nvSpPr>
        <p:spPr>
          <a:xfrm>
            <a:off x="320040" y="4864608"/>
            <a:ext cx="822960" cy="297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249E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POST</a:t>
            </a:r>
            <a:endParaRPr lang="en-US" sz="950" dirty="0"/>
          </a:p>
        </p:txBody>
      </p:sp>
      <p:sp>
        <p:nvSpPr>
          <p:cNvPr id="78" name="Text 76"/>
          <p:cNvSpPr/>
          <p:nvPr/>
        </p:nvSpPr>
        <p:spPr>
          <a:xfrm>
            <a:off x="1161288" y="4864608"/>
            <a:ext cx="2926080" cy="297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/inventory/restock</a:t>
            </a:r>
            <a:endParaRPr lang="en-US" sz="950" dirty="0"/>
          </a:p>
        </p:txBody>
      </p:sp>
      <p:sp>
        <p:nvSpPr>
          <p:cNvPr id="79" name="Text 77"/>
          <p:cNvSpPr/>
          <p:nvPr/>
        </p:nvSpPr>
        <p:spPr>
          <a:xfrm>
            <a:off x="4114800" y="4864608"/>
            <a:ext cx="2468880" cy="297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B0BE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Inventory Service</a:t>
            </a:r>
            <a:endParaRPr lang="en-US" sz="950" dirty="0"/>
          </a:p>
        </p:txBody>
      </p:sp>
      <p:sp>
        <p:nvSpPr>
          <p:cNvPr id="80" name="Text 78"/>
          <p:cNvSpPr/>
          <p:nvPr/>
        </p:nvSpPr>
        <p:spPr>
          <a:xfrm>
            <a:off x="6601968" y="4864608"/>
            <a:ext cx="1371600" cy="297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FC10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🔒 JWT</a:t>
            </a:r>
            <a:endParaRPr lang="en-US" sz="950" dirty="0"/>
          </a:p>
        </p:txBody>
      </p:sp>
      <p:sp>
        <p:nvSpPr>
          <p:cNvPr id="81" name="Text 79"/>
          <p:cNvSpPr/>
          <p:nvPr/>
        </p:nvSpPr>
        <p:spPr>
          <a:xfrm>
            <a:off x="8001000" y="4864608"/>
            <a:ext cx="4069080" cy="297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B0BE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Restock a book's quantity</a:t>
            </a:r>
            <a:endParaRPr lang="en-US" sz="950" dirty="0"/>
          </a:p>
        </p:txBody>
      </p:sp>
      <p:sp>
        <p:nvSpPr>
          <p:cNvPr id="82" name="Shape 80"/>
          <p:cNvSpPr/>
          <p:nvPr/>
        </p:nvSpPr>
        <p:spPr>
          <a:xfrm>
            <a:off x="274320" y="5180076"/>
            <a:ext cx="11750040" cy="333756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83" name="Text 81"/>
          <p:cNvSpPr/>
          <p:nvPr/>
        </p:nvSpPr>
        <p:spPr>
          <a:xfrm>
            <a:off x="320040" y="5198364"/>
            <a:ext cx="822960" cy="297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091D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GET</a:t>
            </a:r>
            <a:endParaRPr lang="en-US" sz="950" dirty="0"/>
          </a:p>
        </p:txBody>
      </p:sp>
      <p:sp>
        <p:nvSpPr>
          <p:cNvPr id="84" name="Text 82"/>
          <p:cNvSpPr/>
          <p:nvPr/>
        </p:nvSpPr>
        <p:spPr>
          <a:xfrm>
            <a:off x="1161288" y="5198364"/>
            <a:ext cx="2926080" cy="297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/payments</a:t>
            </a:r>
            <a:endParaRPr lang="en-US" sz="950" dirty="0"/>
          </a:p>
        </p:txBody>
      </p:sp>
      <p:sp>
        <p:nvSpPr>
          <p:cNvPr id="85" name="Text 83"/>
          <p:cNvSpPr/>
          <p:nvPr/>
        </p:nvSpPr>
        <p:spPr>
          <a:xfrm>
            <a:off x="4114800" y="5198364"/>
            <a:ext cx="2468880" cy="297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B0BE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Payment Service</a:t>
            </a:r>
            <a:endParaRPr lang="en-US" sz="950" dirty="0"/>
          </a:p>
        </p:txBody>
      </p:sp>
      <p:sp>
        <p:nvSpPr>
          <p:cNvPr id="86" name="Text 84"/>
          <p:cNvSpPr/>
          <p:nvPr/>
        </p:nvSpPr>
        <p:spPr>
          <a:xfrm>
            <a:off x="6601968" y="5198364"/>
            <a:ext cx="1371600" cy="297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FC10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🔒 JWT</a:t>
            </a:r>
            <a:endParaRPr lang="en-US" sz="950" dirty="0"/>
          </a:p>
        </p:txBody>
      </p:sp>
      <p:sp>
        <p:nvSpPr>
          <p:cNvPr id="87" name="Text 85"/>
          <p:cNvSpPr/>
          <p:nvPr/>
        </p:nvSpPr>
        <p:spPr>
          <a:xfrm>
            <a:off x="8001000" y="5198364"/>
            <a:ext cx="4069080" cy="297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B0BE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List all payments</a:t>
            </a:r>
            <a:endParaRPr lang="en-US" sz="950" dirty="0"/>
          </a:p>
        </p:txBody>
      </p:sp>
      <p:sp>
        <p:nvSpPr>
          <p:cNvPr id="88" name="Shape 86"/>
          <p:cNvSpPr/>
          <p:nvPr/>
        </p:nvSpPr>
        <p:spPr>
          <a:xfrm>
            <a:off x="274320" y="5513832"/>
            <a:ext cx="11750040" cy="333756"/>
          </a:xfrm>
          <a:prstGeom prst="rect">
            <a:avLst/>
          </a:prstGeom>
          <a:solidFill>
            <a:srgbClr val="1A2742"/>
          </a:solidFill>
          <a:ln/>
        </p:spPr>
      </p:sp>
      <p:sp>
        <p:nvSpPr>
          <p:cNvPr id="89" name="Text 87"/>
          <p:cNvSpPr/>
          <p:nvPr/>
        </p:nvSpPr>
        <p:spPr>
          <a:xfrm>
            <a:off x="320040" y="5532120"/>
            <a:ext cx="822960" cy="297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091D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GET</a:t>
            </a:r>
            <a:endParaRPr lang="en-US" sz="950" dirty="0"/>
          </a:p>
        </p:txBody>
      </p:sp>
      <p:sp>
        <p:nvSpPr>
          <p:cNvPr id="90" name="Text 88"/>
          <p:cNvSpPr/>
          <p:nvPr/>
        </p:nvSpPr>
        <p:spPr>
          <a:xfrm>
            <a:off x="1161288" y="5532120"/>
            <a:ext cx="2926080" cy="297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/payments/:order_id</a:t>
            </a:r>
            <a:endParaRPr lang="en-US" sz="950" dirty="0"/>
          </a:p>
        </p:txBody>
      </p:sp>
      <p:sp>
        <p:nvSpPr>
          <p:cNvPr id="91" name="Text 89"/>
          <p:cNvSpPr/>
          <p:nvPr/>
        </p:nvSpPr>
        <p:spPr>
          <a:xfrm>
            <a:off x="4114800" y="5532120"/>
            <a:ext cx="2468880" cy="297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B0BE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Payment Service</a:t>
            </a:r>
            <a:endParaRPr lang="en-US" sz="950" dirty="0"/>
          </a:p>
        </p:txBody>
      </p:sp>
      <p:sp>
        <p:nvSpPr>
          <p:cNvPr id="92" name="Text 90"/>
          <p:cNvSpPr/>
          <p:nvPr/>
        </p:nvSpPr>
        <p:spPr>
          <a:xfrm>
            <a:off x="6601968" y="5532120"/>
            <a:ext cx="1371600" cy="297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FC10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🔒 JWT</a:t>
            </a:r>
            <a:endParaRPr lang="en-US" sz="950" dirty="0"/>
          </a:p>
        </p:txBody>
      </p:sp>
      <p:sp>
        <p:nvSpPr>
          <p:cNvPr id="93" name="Text 91"/>
          <p:cNvSpPr/>
          <p:nvPr/>
        </p:nvSpPr>
        <p:spPr>
          <a:xfrm>
            <a:off x="8001000" y="5532120"/>
            <a:ext cx="4069080" cy="297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B0BE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Get payment for an order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Shape 1"/>
          <p:cNvSpPr/>
          <p:nvPr/>
        </p:nvSpPr>
        <p:spPr>
          <a:xfrm>
            <a:off x="365760" y="109728"/>
            <a:ext cx="1463040" cy="54864"/>
          </a:xfrm>
          <a:prstGeom prst="rect">
            <a:avLst/>
          </a:prstGeom>
          <a:solidFill>
            <a:srgbClr val="4CAFEC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73152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Deployment Strategy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365760" y="59436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4CAFE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Deploy the entire backend stack on a single VPS using Docker Compose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1188720"/>
            <a:ext cx="2834640" cy="3977640"/>
          </a:xfrm>
          <a:prstGeom prst="rect">
            <a:avLst/>
          </a:prstGeom>
          <a:solidFill>
            <a:srgbClr val="1A2742"/>
          </a:solidFill>
          <a:ln/>
        </p:spPr>
      </p:sp>
      <p:sp>
        <p:nvSpPr>
          <p:cNvPr id="7" name="Shape 5"/>
          <p:cNvSpPr/>
          <p:nvPr/>
        </p:nvSpPr>
        <p:spPr>
          <a:xfrm>
            <a:off x="1280160" y="1234440"/>
            <a:ext cx="822960" cy="685800"/>
          </a:xfrm>
          <a:prstGeom prst="rect">
            <a:avLst/>
          </a:prstGeom>
          <a:solidFill>
            <a:srgbClr val="4CAFEC"/>
          </a:solidFill>
          <a:ln/>
        </p:spPr>
      </p:sp>
      <p:sp>
        <p:nvSpPr>
          <p:cNvPr id="8" name="Text 6"/>
          <p:cNvSpPr/>
          <p:nvPr/>
        </p:nvSpPr>
        <p:spPr>
          <a:xfrm>
            <a:off x="1280160" y="1234440"/>
            <a:ext cx="822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384048" y="1993392"/>
            <a:ext cx="261518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4CAFE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Provision a VPS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84048" y="2377440"/>
            <a:ext cx="2615184" cy="27432"/>
          </a:xfrm>
          <a:prstGeom prst="rect">
            <a:avLst/>
          </a:prstGeom>
          <a:solidFill>
            <a:srgbClr val="4CAFEC"/>
          </a:solidFill>
          <a:ln/>
        </p:spPr>
      </p:sp>
      <p:sp>
        <p:nvSpPr>
          <p:cNvPr id="11" name="Text 9"/>
          <p:cNvSpPr/>
          <p:nvPr/>
        </p:nvSpPr>
        <p:spPr>
          <a:xfrm>
            <a:off x="384048" y="2432304"/>
            <a:ext cx="2615184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B0BE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Recommended: Oracle Cloud Always-Free Tier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B0BE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Specs: 4 ARM cores, 24GB RAM — free forever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B0BE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Alternatives: AWS EC2 t2.micro (12-month free)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B0BE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DigitalOcean / Google Cloud e2-micro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273552" y="1188720"/>
            <a:ext cx="2834640" cy="3977640"/>
          </a:xfrm>
          <a:prstGeom prst="rect">
            <a:avLst/>
          </a:prstGeom>
          <a:solidFill>
            <a:srgbClr val="1A2742"/>
          </a:solidFill>
          <a:ln/>
        </p:spPr>
      </p:sp>
      <p:sp>
        <p:nvSpPr>
          <p:cNvPr id="13" name="Shape 11"/>
          <p:cNvSpPr/>
          <p:nvPr/>
        </p:nvSpPr>
        <p:spPr>
          <a:xfrm>
            <a:off x="4279392" y="1234440"/>
            <a:ext cx="822960" cy="685800"/>
          </a:xfrm>
          <a:prstGeom prst="rect">
            <a:avLst/>
          </a:prstGeom>
          <a:solidFill>
            <a:srgbClr val="0091D5"/>
          </a:solidFill>
          <a:ln/>
        </p:spPr>
      </p:sp>
      <p:sp>
        <p:nvSpPr>
          <p:cNvPr id="14" name="Text 12"/>
          <p:cNvSpPr/>
          <p:nvPr/>
        </p:nvSpPr>
        <p:spPr>
          <a:xfrm>
            <a:off x="4279392" y="1234440"/>
            <a:ext cx="822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3383280" y="1993392"/>
            <a:ext cx="261518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91D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Install Docker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383280" y="2377440"/>
            <a:ext cx="2615184" cy="27432"/>
          </a:xfrm>
          <a:prstGeom prst="rect">
            <a:avLst/>
          </a:prstGeom>
          <a:solidFill>
            <a:srgbClr val="0091D5"/>
          </a:solidFill>
          <a:ln/>
        </p:spPr>
      </p:sp>
      <p:sp>
        <p:nvSpPr>
          <p:cNvPr id="17" name="Text 15"/>
          <p:cNvSpPr/>
          <p:nvPr/>
        </p:nvSpPr>
        <p:spPr>
          <a:xfrm>
            <a:off x="3383280" y="2432304"/>
            <a:ext cx="2615184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B0BE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sudo apt update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B0BE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sudo apt install docker.io docker-compose -y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B0BE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sudo usermod -aG docker $USER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B0BE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Log out/in to apply Docker group permissions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6272784" y="1188720"/>
            <a:ext cx="2834640" cy="3977640"/>
          </a:xfrm>
          <a:prstGeom prst="rect">
            <a:avLst/>
          </a:prstGeom>
          <a:solidFill>
            <a:srgbClr val="1A2742"/>
          </a:solidFill>
          <a:ln/>
        </p:spPr>
      </p:sp>
      <p:sp>
        <p:nvSpPr>
          <p:cNvPr id="19" name="Shape 17"/>
          <p:cNvSpPr/>
          <p:nvPr/>
        </p:nvSpPr>
        <p:spPr>
          <a:xfrm>
            <a:off x="7278624" y="1234440"/>
            <a:ext cx="822960" cy="685800"/>
          </a:xfrm>
          <a:prstGeom prst="rect">
            <a:avLst/>
          </a:prstGeom>
          <a:solidFill>
            <a:srgbClr val="249E6B"/>
          </a:solidFill>
          <a:ln/>
        </p:spPr>
      </p:sp>
      <p:sp>
        <p:nvSpPr>
          <p:cNvPr id="20" name="Text 18"/>
          <p:cNvSpPr/>
          <p:nvPr/>
        </p:nvSpPr>
        <p:spPr>
          <a:xfrm>
            <a:off x="7278624" y="1234440"/>
            <a:ext cx="822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6382512" y="1993392"/>
            <a:ext cx="261518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49E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Clone Repository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382512" y="2377440"/>
            <a:ext cx="2615184" cy="27432"/>
          </a:xfrm>
          <a:prstGeom prst="rect">
            <a:avLst/>
          </a:prstGeom>
          <a:solidFill>
            <a:srgbClr val="249E6B"/>
          </a:solidFill>
          <a:ln/>
        </p:spPr>
      </p:sp>
      <p:sp>
        <p:nvSpPr>
          <p:cNvPr id="23" name="Text 21"/>
          <p:cNvSpPr/>
          <p:nvPr/>
        </p:nvSpPr>
        <p:spPr>
          <a:xfrm>
            <a:off x="6382512" y="2432304"/>
            <a:ext cx="2615184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B0BE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git clone &lt;your-github-repo-url&gt;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B0BE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cd &lt;repo&gt;/backend</a:t>
            </a:r>
            <a:endParaRPr lang="en-US" sz="950" dirty="0"/>
          </a:p>
          <a:p>
            <a:pPr algn="l" indent="0" marL="0">
              <a:buNone/>
            </a:pP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B0BE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Ensure docker-compose.yml is present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272016" y="1188720"/>
            <a:ext cx="2834640" cy="3977640"/>
          </a:xfrm>
          <a:prstGeom prst="rect">
            <a:avLst/>
          </a:prstGeom>
          <a:solidFill>
            <a:srgbClr val="1A2742"/>
          </a:solidFill>
          <a:ln/>
        </p:spPr>
      </p:sp>
      <p:sp>
        <p:nvSpPr>
          <p:cNvPr id="25" name="Shape 23"/>
          <p:cNvSpPr/>
          <p:nvPr/>
        </p:nvSpPr>
        <p:spPr>
          <a:xfrm>
            <a:off x="10277856" y="1234440"/>
            <a:ext cx="822960" cy="685800"/>
          </a:xfrm>
          <a:prstGeom prst="rect">
            <a:avLst/>
          </a:prstGeom>
          <a:solidFill>
            <a:srgbClr val="FF8000"/>
          </a:solidFill>
          <a:ln/>
        </p:spPr>
      </p:sp>
      <p:sp>
        <p:nvSpPr>
          <p:cNvPr id="26" name="Text 24"/>
          <p:cNvSpPr/>
          <p:nvPr/>
        </p:nvSpPr>
        <p:spPr>
          <a:xfrm>
            <a:off x="10277856" y="1234440"/>
            <a:ext cx="822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2600" dirty="0"/>
          </a:p>
        </p:txBody>
      </p:sp>
      <p:sp>
        <p:nvSpPr>
          <p:cNvPr id="27" name="Text 25"/>
          <p:cNvSpPr/>
          <p:nvPr/>
        </p:nvSpPr>
        <p:spPr>
          <a:xfrm>
            <a:off x="9381744" y="1993392"/>
            <a:ext cx="261518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8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Deploy!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9381744" y="2377440"/>
            <a:ext cx="2615184" cy="27432"/>
          </a:xfrm>
          <a:prstGeom prst="rect">
            <a:avLst/>
          </a:prstGeom>
          <a:solidFill>
            <a:srgbClr val="FF8000"/>
          </a:solidFill>
          <a:ln/>
        </p:spPr>
      </p:sp>
      <p:sp>
        <p:nvSpPr>
          <p:cNvPr id="29" name="Text 27"/>
          <p:cNvSpPr/>
          <p:nvPr/>
        </p:nvSpPr>
        <p:spPr>
          <a:xfrm>
            <a:off x="9381744" y="2432304"/>
            <a:ext cx="2615184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B0BE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docker-compose up -d --build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B0BE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All 7 containers start automatically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B0BE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API Gateway exposed on port :8000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B0BE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Open port 8000 in your firewall/security group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274320" y="5321808"/>
            <a:ext cx="11640312" cy="1234440"/>
          </a:xfrm>
          <a:prstGeom prst="rect">
            <a:avLst/>
          </a:prstGeom>
          <a:solidFill>
            <a:srgbClr val="3B1010"/>
          </a:solidFill>
          <a:ln/>
        </p:spPr>
      </p:sp>
      <p:sp>
        <p:nvSpPr>
          <p:cNvPr id="31" name="Text 29"/>
          <p:cNvSpPr/>
          <p:nvPr/>
        </p:nvSpPr>
        <p:spPr>
          <a:xfrm>
            <a:off x="457200" y="5367528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6B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⚠  Why NOT Render Free Tier?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457200" y="5742432"/>
            <a:ext cx="11338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B0BE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Ephemeral storage → SQLite files are deleted every time a service sleeps (after 15 min of inactivity)  •  750 free hours ÷ 6 services = only ~5 days of runtime per month  •  No managed RabbitMQ on the free tier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Shape 1"/>
          <p:cNvSpPr/>
          <p:nvPr/>
        </p:nvSpPr>
        <p:spPr>
          <a:xfrm>
            <a:off x="8686800" y="0"/>
            <a:ext cx="3502152" cy="6858000"/>
          </a:xfrm>
          <a:prstGeom prst="rect">
            <a:avLst/>
          </a:prstGeom>
          <a:solidFill>
            <a:srgbClr val="152237"/>
          </a:solidFill>
          <a:ln/>
        </p:spPr>
      </p:sp>
      <p:sp>
        <p:nvSpPr>
          <p:cNvPr id="4" name="Shape 2"/>
          <p:cNvSpPr/>
          <p:nvPr/>
        </p:nvSpPr>
        <p:spPr>
          <a:xfrm>
            <a:off x="10058400" y="0"/>
            <a:ext cx="2130552" cy="6858000"/>
          </a:xfrm>
          <a:prstGeom prst="rect">
            <a:avLst/>
          </a:prstGeom>
          <a:solidFill>
            <a:srgbClr val="1D2E52"/>
          </a:solidFill>
          <a:ln/>
        </p:spPr>
      </p:sp>
      <p:sp>
        <p:nvSpPr>
          <p:cNvPr id="5" name="Shape 3"/>
          <p:cNvSpPr/>
          <p:nvPr/>
        </p:nvSpPr>
        <p:spPr>
          <a:xfrm>
            <a:off x="10972800" y="0"/>
            <a:ext cx="1216152" cy="6858000"/>
          </a:xfrm>
          <a:prstGeom prst="rect">
            <a:avLst/>
          </a:prstGeom>
          <a:solidFill>
            <a:srgbClr val="253A66"/>
          </a:solidFill>
          <a:ln/>
        </p:spPr>
      </p:sp>
      <p:sp>
        <p:nvSpPr>
          <p:cNvPr id="6" name="Shape 4"/>
          <p:cNvSpPr/>
          <p:nvPr/>
        </p:nvSpPr>
        <p:spPr>
          <a:xfrm>
            <a:off x="0" y="2926080"/>
            <a:ext cx="8412480" cy="54864"/>
          </a:xfrm>
          <a:prstGeom prst="rect">
            <a:avLst/>
          </a:prstGeom>
          <a:solidFill>
            <a:srgbClr val="4CAFEC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005840"/>
            <a:ext cx="7772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Thank You</a:t>
            </a:r>
            <a:endParaRPr lang="en-US" sz="5200" dirty="0"/>
          </a:p>
        </p:txBody>
      </p:sp>
      <p:sp>
        <p:nvSpPr>
          <p:cNvPr id="8" name="Text 6"/>
          <p:cNvSpPr/>
          <p:nvPr/>
        </p:nvSpPr>
        <p:spPr>
          <a:xfrm>
            <a:off x="548640" y="192024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4CAFE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Architecture Summary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548640" y="3108960"/>
            <a:ext cx="7772400" cy="3383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B0BE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🔷  6-service microservice architecture built in Go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B0BE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🔷  API Gateway handles auth (JWT), routing &amp; CORS on port :8000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B0BE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🔷  RabbitMQ decouples order, inventory, and payment events asynchronously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B0BE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🔷  SQLite + GORM — embedded, zero-overhead databases per service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B0BE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🔷  Fully containerised with Docker Compose &amp; persistent named volumes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B0BE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🔷  Deploy with a single command: docker-compose up -d --build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2026-07-31T13:57:34Z</dcterms:created>
  <dcterms:modified xsi:type="dcterms:W3CDTF">2026-07-31T13:57:34Z</dcterms:modified>
</cp:coreProperties>
</file>